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4a4f869fd54eca" /><Relationship Type="http://schemas.openxmlformats.org/officeDocument/2006/relationships/extended-properties" Target="/docProps/app.xml" Id="R4fc2061d24c44a07" /><Relationship Type="http://schemas.openxmlformats.org/officeDocument/2006/relationships/officeDocument" Target="/ppt/presentation.xml" Id="R2777c5dd27fc41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3c5e861fef4563"/>
  </p:sldMasterIdLst>
  <p:notesMasterIdLst>
    <p:notesMasterId xmlns:r="http://schemas.openxmlformats.org/officeDocument/2006/relationships" r:id="Rf62e14e0c30f43a9"/>
  </p:notesMasterIdLst>
  <p:sldIdLst>
    <p:sldId xmlns:r="http://schemas.openxmlformats.org/officeDocument/2006/relationships" id="256" r:id="R3e891d87bcac4dbd"/>
    <p:sldId xmlns:r="http://schemas.openxmlformats.org/officeDocument/2006/relationships" id="257" r:id="R726ef506a2744d05"/>
    <p:sldId xmlns:r="http://schemas.openxmlformats.org/officeDocument/2006/relationships" id="258" r:id="R895ae40e4b7c4920"/>
    <p:sldId xmlns:r="http://schemas.openxmlformats.org/officeDocument/2006/relationships" id="259" r:id="R82796997e186481d"/>
    <p:sldId xmlns:r="http://schemas.openxmlformats.org/officeDocument/2006/relationships" id="260" r:id="R7a052b7b8a4b47e3"/>
    <p:sldId xmlns:r="http://schemas.openxmlformats.org/officeDocument/2006/relationships" id="261" r:id="R4c554fac81824c13"/>
    <p:sldId xmlns:r="http://schemas.openxmlformats.org/officeDocument/2006/relationships" id="262" r:id="R4693e779e9654b76"/>
    <p:sldId xmlns:r="http://schemas.openxmlformats.org/officeDocument/2006/relationships" id="263" r:id="R92ad1bf4cd2144f2"/>
    <p:sldId xmlns:r="http://schemas.openxmlformats.org/officeDocument/2006/relationships" id="264" r:id="R10c25d3d35174540"/>
    <p:sldId xmlns:r="http://schemas.openxmlformats.org/officeDocument/2006/relationships" id="265" r:id="Rd7be24c8ae504651"/>
    <p:sldId xmlns:r="http://schemas.openxmlformats.org/officeDocument/2006/relationships" id="266" r:id="Rd2f0ee6b58b04988"/>
    <p:sldId xmlns:r="http://schemas.openxmlformats.org/officeDocument/2006/relationships" id="267" r:id="Ra6da2ce70b4a4d5b"/>
    <p:sldId xmlns:r="http://schemas.openxmlformats.org/officeDocument/2006/relationships" id="268" r:id="R54c3e3c458d14509"/>
    <p:sldId xmlns:r="http://schemas.openxmlformats.org/officeDocument/2006/relationships" id="269" r:id="R431997a67fe44adf"/>
    <p:sldId xmlns:r="http://schemas.openxmlformats.org/officeDocument/2006/relationships" id="270" r:id="Rb63efff73fd448ae"/>
    <p:sldId xmlns:r="http://schemas.openxmlformats.org/officeDocument/2006/relationships" id="271" r:id="R7011ea01892749c9"/>
    <p:sldId xmlns:r="http://schemas.openxmlformats.org/officeDocument/2006/relationships" id="272" r:id="Rc3bf112f691d4f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182d371aa6479b" /><Relationship Type="http://schemas.openxmlformats.org/officeDocument/2006/relationships/slideMaster" Target="/ppt/slideMasters/slideMaster1.xml" Id="R3f3c5e861fef4563" /><Relationship Type="http://schemas.openxmlformats.org/officeDocument/2006/relationships/notesMaster" Target="/ppt/notesMasters/notesMaster1.xml" Id="Rf62e14e0c30f43a9" /><Relationship Type="http://schemas.openxmlformats.org/officeDocument/2006/relationships/presProps" Target="/ppt/presProps.xml" Id="R902dbd2ea10d4866" /><Relationship Type="http://schemas.openxmlformats.org/officeDocument/2006/relationships/tableStyles" Target="/ppt/tableStyles.xml" Id="Rf95ee82f10e64f9e" /><Relationship Type="http://schemas.openxmlformats.org/officeDocument/2006/relationships/slide" Target="/ppt/slides/slide1.xml" Id="R3e891d87bcac4dbd" /><Relationship Type="http://schemas.openxmlformats.org/officeDocument/2006/relationships/slide" Target="/ppt/slides/slide2.xml" Id="R726ef506a2744d05" /><Relationship Type="http://schemas.openxmlformats.org/officeDocument/2006/relationships/slide" Target="/ppt/slides/slide3.xml" Id="R895ae40e4b7c4920" /><Relationship Type="http://schemas.openxmlformats.org/officeDocument/2006/relationships/slide" Target="/ppt/slides/slide4.xml" Id="R82796997e186481d" /><Relationship Type="http://schemas.openxmlformats.org/officeDocument/2006/relationships/slide" Target="/ppt/slides/slide5.xml" Id="R7a052b7b8a4b47e3" /><Relationship Type="http://schemas.openxmlformats.org/officeDocument/2006/relationships/slide" Target="/ppt/slides/slide6.xml" Id="R4c554fac81824c13" /><Relationship Type="http://schemas.openxmlformats.org/officeDocument/2006/relationships/slide" Target="/ppt/slides/slide7.xml" Id="R4693e779e9654b76" /><Relationship Type="http://schemas.openxmlformats.org/officeDocument/2006/relationships/slide" Target="/ppt/slides/slide8.xml" Id="R92ad1bf4cd2144f2" /><Relationship Type="http://schemas.openxmlformats.org/officeDocument/2006/relationships/slide" Target="/ppt/slides/slide9.xml" Id="R10c25d3d35174540" /><Relationship Type="http://schemas.openxmlformats.org/officeDocument/2006/relationships/slide" Target="/ppt/slides/slide10.xml" Id="Rd7be24c8ae504651" /><Relationship Type="http://schemas.openxmlformats.org/officeDocument/2006/relationships/slide" Target="/ppt/slides/slide11.xml" Id="Rd2f0ee6b58b04988" /><Relationship Type="http://schemas.openxmlformats.org/officeDocument/2006/relationships/slide" Target="/ppt/slides/slide12.xml" Id="Ra6da2ce70b4a4d5b" /><Relationship Type="http://schemas.openxmlformats.org/officeDocument/2006/relationships/slide" Target="/ppt/slides/slide13.xml" Id="R54c3e3c458d14509" /><Relationship Type="http://schemas.openxmlformats.org/officeDocument/2006/relationships/slide" Target="/ppt/slides/slide14.xml" Id="R431997a67fe44adf" /><Relationship Type="http://schemas.openxmlformats.org/officeDocument/2006/relationships/slide" Target="/ppt/slides/slide15.xml" Id="Rb63efff73fd448ae" /><Relationship Type="http://schemas.openxmlformats.org/officeDocument/2006/relationships/slide" Target="/ppt/slides/slide16.xml" Id="R7011ea01892749c9" /><Relationship Type="http://schemas.openxmlformats.org/officeDocument/2006/relationships/slide" Target="/ppt/slides/slide17.xml" Id="Rc3bf112f691d4f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298992a64049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1bc3ff82364c34" /><Relationship Type="http://schemas.openxmlformats.org/officeDocument/2006/relationships/notesMaster" Target="/ppt/notesMasters/notesMaster1.xml" Id="R01009bc5b68c4d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05025e854040b7" /><Relationship Type="http://schemas.openxmlformats.org/officeDocument/2006/relationships/notesMaster" Target="/ppt/notesMasters/notesMaster1.xml" Id="R3c71667e0a004f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b9b5f63cfa43d2" /><Relationship Type="http://schemas.openxmlformats.org/officeDocument/2006/relationships/notesMaster" Target="/ppt/notesMasters/notesMaster1.xml" Id="R40fbf5a4f02b4e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a147da6eb545f6" /><Relationship Type="http://schemas.openxmlformats.org/officeDocument/2006/relationships/notesMaster" Target="/ppt/notesMasters/notesMaster1.xml" Id="Rd8f1c9b9e5104f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5c29a4b9bb4213" /><Relationship Type="http://schemas.openxmlformats.org/officeDocument/2006/relationships/notesMaster" Target="/ppt/notesMasters/notesMaster1.xml" Id="Rf38377674c0740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0ff270d9ad40e2" /><Relationship Type="http://schemas.openxmlformats.org/officeDocument/2006/relationships/notesMaster" Target="/ppt/notesMasters/notesMaster1.xml" Id="R15dcc0b229f64b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b24919596e48ab" /><Relationship Type="http://schemas.openxmlformats.org/officeDocument/2006/relationships/notesMaster" Target="/ppt/notesMasters/notesMaster1.xml" Id="R21c3b891eb2348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4d5eabeb6b433a" /><Relationship Type="http://schemas.openxmlformats.org/officeDocument/2006/relationships/notesMaster" Target="/ppt/notesMasters/notesMaster1.xml" Id="R5fd15e048fd240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e79530bd64483a" /><Relationship Type="http://schemas.openxmlformats.org/officeDocument/2006/relationships/notesMaster" Target="/ppt/notesMasters/notesMaster1.xml" Id="R7a6b94a50f2346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cd4791bbb44199" /><Relationship Type="http://schemas.openxmlformats.org/officeDocument/2006/relationships/notesMaster" Target="/ppt/notesMasters/notesMaster1.xml" Id="R9d00ea4ed85b40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bd3f4521eb4d82" /><Relationship Type="http://schemas.openxmlformats.org/officeDocument/2006/relationships/notesMaster" Target="/ppt/notesMasters/notesMaster1.xml" Id="Rea0a5d8c78fa4e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f6cabdb9624e9f" /><Relationship Type="http://schemas.openxmlformats.org/officeDocument/2006/relationships/notesMaster" Target="/ppt/notesMasters/notesMaster1.xml" Id="Re8ec01e0530f44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9dfb21f2cd45cd" /><Relationship Type="http://schemas.openxmlformats.org/officeDocument/2006/relationships/notesMaster" Target="/ppt/notesMasters/notesMaster1.xml" Id="R7e9123939d3e49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b76115436f4a51" /><Relationship Type="http://schemas.openxmlformats.org/officeDocument/2006/relationships/notesMaster" Target="/ppt/notesMasters/notesMaster1.xml" Id="R9762b54fca6f4a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fa4ce9f79c47aa" /><Relationship Type="http://schemas.openxmlformats.org/officeDocument/2006/relationships/notesMaster" Target="/ppt/notesMasters/notesMaster1.xml" Id="R24cf2cdf68fd47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2d55477a734693" /><Relationship Type="http://schemas.openxmlformats.org/officeDocument/2006/relationships/notesMaster" Target="/ppt/notesMasters/notesMaster1.xml" Id="R2b0de3df5f7648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5dae3142064cba" /><Relationship Type="http://schemas.openxmlformats.org/officeDocument/2006/relationships/notesMaster" Target="/ppt/notesMasters/notesMaster1.xml" Id="R98968451662d40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各位好，这次交接不只介绍页面功能，而是要让接手同事在一次汇报后完成四件事：能把系统跑起来、能按患者与管理员两条路径演示、能定位关键代码、能判断当前原型距离生产系统还有哪些差距。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先给出最重要的判断：它是一个完整业务闭环的前端原型，不是已生产化的平台。患者端和后台共用 CareStore，并把状态保存到 localStorage，所以同一浏览器中可以切换角色演示数据联动。没有后端、数据库和真实鉴权，因此禁止录入真实患者信息。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可以分为患者端、管理后台和跨端闭环三组。患者端负责提交、查询和查看结果；后台负责审批、派单、价格与报告；真正决定系统是否可靠的是跨端状态规则。当前没有独立陪诊师端，陪诊师只是后台可分配的资源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这个项目没有 npm install 和构建步骤。进入目录后启动任意静态服务器即可。首页选择患者或管理员。患者验证码固定为 8888；管理员默认账号、密码和验证码都已经预填，也可以使用一键演示登录。业务数据会在刷新后保留，重置数据需要进入后台系统设置。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患者有两种入口：人工表单和 AI 助手。两条路径写入同一个需求草稿，切换不会丢失内容。AI 不是直接下单，它先解析字段，再依次进入确认、身份证、报告和最终提交阶段。提交后，患者在进度页查看管理员推进的状态；需求完成后才能看到报告。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端的核心演示是：患者提交后退出登录，进入管理员后台，在需求处理中分配陪诊师，然后在服务跟踪中推进到服务中和已完成。医院申请、收费和报告都有独立入口。最后回到患者端，可以看到通知、状态和报告同步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这张图是最适合现场演示的主线。患者描述并确认资料后提交，后台收到通知并分配陪诊师，随后开始和完成服务。报告发布是独立动作，不会再次改变需求状态。所有动作都经 CareStore 写入，并通过角色通知把处理结果反馈给患者。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当前是浏览器单体：界面层通过 DOM 字符串渲染，App、Patient、Admin 和 workflow 在同一个全局环境工作，领域状态集中在 CareStore，最底层依赖浏览器 localStorage、FileReader 和 Canvas。优点是部署简单；缺点是全局耦合明显，后续生产化必须拆分模块和接口。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index.html 按 data、store、app、patient、admin、workflow 的顺序加载脚本。因为没有 ES Module，后加载脚本可以覆盖前面的对象方法。admin.js 代码量最大；workflow.js 只有约 190 行，却承担最新业务闭环的覆盖逻辑，因此修复问题时不能只看原始 app 或 admin 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Need 是中心实体。AI 和人工表单共用 Draft；陪诊师、医院申请、通知和报告都通过 ID 或明确字段与需求关联。Store 使用版本号 1 和固定键 huwuyou_store_v1。接手时新增字段要同步更新默认值、合并逻辑和渲染代码，否则旧浏览器数据会出现兼容问题。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需求只允许待处理到已分配、已分配到服务中、服务中到已完成。取消只能从待处理或已分配进入。界面会隐藏不允许的按钮，但真正的防线是 transitionNeed 中的 allowed map。发布报告不改变需求状态，只写入报告 ID 并发送通知。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 AI 主流程不是黑盒对话，而是七阶段状态机。本地规则会识别医院别名、科室、日期、服务类型和辅助备注；缺什么就一次问一个问题。收集完成后仍然要经过详情确认、身份证、检查报告和最终确认。这样即使未来换成大模型，提交权限也应继续留在业务状态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收录医院可以先进入草稿，但审批通过前不能提交需求。同一患者和医院的待审批申请会复用；驳回必须保留原因，并通过新申请重提。通知使用角色、类型、目标和事件键去重，患者和管理员只读取自己的通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Store 在加载时合并默认字段，JSON 损坏会备份原字符串并恢复演示数据。图片通过 FileReader 和 Canvas 压缩成 Data URL。需要特别说明：当前写入失败时会提示，但内存已经修改，并没有事务回滚。真实系统必须把图片放对象存储，把结构化数据放数据库，并在后端做校验。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部署不需要编译产物，只需把静态文件同步到服务器目录。Nginx 配置将 huwuyou-demo 路径映射到 var/www 下的目录，并设置 index.html。上线演示前重点检查目录权限、尾斜杠跳转、浏览器缓存和敏感资料警示。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生产化不要从换 Vue 或 React 开始。第一优先级是隐私、鉴权、数据库和文件存储；第二步把业务能力封装为 API，并建立 AI/OCR 后端网关；最后才是工程化与可观测性。现有状态机和用户确认原则可以保留，页面实现可以逐步替换。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建议第一天只做运行和全链路演示；第二天按 Store、workflow、App 和页面的顺序读代码；第三天建立回归清单；之后再修复和补测试。交接是否成功，不看是否把所有代码读完，而看能否复现业务闭环、解释当前边界，并在修改状态规则时不破坏其他流程。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651d7fa4a44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46d4b6de6c49cf" /><Relationship Type="http://schemas.openxmlformats.org/officeDocument/2006/relationships/slideLayout" Target="/ppt/slideLayouts/slideLayout1.xml" Id="Rfacf0fd7d10f43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cf0fd7d10f43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7e69b0c664e4b" /><Relationship Type="http://schemas.openxmlformats.org/officeDocument/2006/relationships/notesSlide" Target="/ppt/notesSlides/notesSlide1.xml" Id="R1754090ea64c43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1743475074f5f" /><Relationship Type="http://schemas.openxmlformats.org/officeDocument/2006/relationships/notesSlide" Target="/ppt/notesSlides/notesSlide2.xml" Id="R9184ed44ee494c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7722223564e48" /><Relationship Type="http://schemas.openxmlformats.org/officeDocument/2006/relationships/notesSlide" Target="/ppt/notesSlides/notesSlide3.xml" Id="R0471b04b970949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1e7433439453b" /><Relationship Type="http://schemas.openxmlformats.org/officeDocument/2006/relationships/notesSlide" Target="/ppt/notesSlides/notesSlide4.xml" Id="Rd579d3302c7d4b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1d4e4667c48c4" /><Relationship Type="http://schemas.openxmlformats.org/officeDocument/2006/relationships/image" Target="/ppt/media/image.jpeg" Id="Rcc9b959550c5493d" /><Relationship Type="http://schemas.openxmlformats.org/officeDocument/2006/relationships/notesSlide" Target="/ppt/notesSlides/notesSlide5.xml" Id="Rd5697777d78b4c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9c95ef2134225" /><Relationship Type="http://schemas.openxmlformats.org/officeDocument/2006/relationships/notesSlide" Target="/ppt/notesSlides/notesSlide6.xml" Id="Ra6633fd67ce347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c1cc41bf94df1" /><Relationship Type="http://schemas.openxmlformats.org/officeDocument/2006/relationships/notesSlide" Target="/ppt/notesSlides/notesSlide7.xml" Id="Re5eba556cb2548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3d18381934017" /><Relationship Type="http://schemas.openxmlformats.org/officeDocument/2006/relationships/notesSlide" Target="/ppt/notesSlides/notesSlide8.xml" Id="R7b57551c35db4b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74994aaaf44d5" /><Relationship Type="http://schemas.openxmlformats.org/officeDocument/2006/relationships/notesSlide" Target="/ppt/notesSlides/notesSlide9.xml" Id="Rb9410704778049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fef214b284a9f" /><Relationship Type="http://schemas.openxmlformats.org/officeDocument/2006/relationships/notesSlide" Target="/ppt/notesSlides/notesSlide10.xml" Id="R89053e6353ab41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6b45b62f64527" /><Relationship Type="http://schemas.openxmlformats.org/officeDocument/2006/relationships/notesSlide" Target="/ppt/notesSlides/notesSlide11.xml" Id="Rca806e58530540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3f47743ed4378" /><Relationship Type="http://schemas.openxmlformats.org/officeDocument/2006/relationships/notesSlide" Target="/ppt/notesSlides/notesSlide12.xml" Id="Ra6253385e37e48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5d2c5a26b407d" /><Relationship Type="http://schemas.openxmlformats.org/officeDocument/2006/relationships/notesSlide" Target="/ppt/notesSlides/notesSlide13.xml" Id="R05c23481f2e649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ea025f4824b62" /><Relationship Type="http://schemas.openxmlformats.org/officeDocument/2006/relationships/notesSlide" Target="/ppt/notesSlides/notesSlide14.xml" Id="R01104af5a1c646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c581fef094d5b" /><Relationship Type="http://schemas.openxmlformats.org/officeDocument/2006/relationships/notesSlide" Target="/ppt/notesSlides/notesSlide15.xml" Id="R55241f145a144c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1f70d762441bb" /><Relationship Type="http://schemas.openxmlformats.org/officeDocument/2006/relationships/notesSlide" Target="/ppt/notesSlides/notesSlide16.xml" Id="R4116f68edf1a45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85dfe12484910" /><Relationship Type="http://schemas.openxmlformats.org/officeDocument/2006/relationships/notesSlide" Target="/ppt/notesSlides/notesSlide17.xml" Id="R44f6874ae1bb49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bar">
            <a:extLst xmlns:a="http://schemas.openxmlformats.org/drawingml/2006/main">
              <a:ext uri="{FF2B5EF4-FFF2-40B4-BE49-F238E27FC236}">
                <a16:creationId xmlns:a16="http://schemas.microsoft.com/office/drawing/2014/main" id="{BB2446C3-6D40-4BDE-9FD3-96F7853B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F980021-F7AF-41A7-8DBC-3D8EA7BC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护无忧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A1AC8D4-2CA3-409F-8A3D-8098A723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1F3A"/>
                </a:solidFill>
              </a:defRPr>
            </a:pPr>
            <a:r>
              <a:rPr sz="4050" b="1">
                <a:solidFill>
                  <a:srgbClr val="0B1F3A"/>
                </a:solidFill>
              </a:rPr>
              <a:t>智陪诊全链路平台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80B403F-AF43-42DA-9F76-DAAE207E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技术交接汇报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04A0F15-9AC2-4AE6-BC05-CF85DB15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系统使用 · 功能边界 · 技术架构 · 接手清单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83171418-F5BD-4D69-A56B-D95DDF6B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19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pill">
            <a:extLst xmlns:a="http://schemas.openxmlformats.org/drawingml/2006/main">
              <a:ext uri="{FF2B5EF4-FFF2-40B4-BE49-F238E27FC236}">
                <a16:creationId xmlns:a16="http://schemas.microsoft.com/office/drawing/2014/main" id="{259ED983-7603-487D-B064-25D0A3F1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2667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FBAED8-EAA5-46AB-AE58-03ECEE9E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当前形态：单浏览器演示原型</a:t>
            </a:r>
          </a:p>
        </p:txBody>
      </p:sp>
      <p:sp>
        <p:nvSpPr>
          <p:cNvPr id="9" name="pill">
            <a:extLst xmlns:a="http://schemas.openxmlformats.org/drawingml/2006/main">
              <a:ext uri="{FF2B5EF4-FFF2-40B4-BE49-F238E27FC236}">
                <a16:creationId xmlns:a16="http://schemas.microsoft.com/office/drawing/2014/main" id="{F5BECF8A-E804-490C-962A-10869F06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2190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9811F3D-A892-4C07-85ED-47590ACC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910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E9"/>
                </a:solidFill>
              </a:defRPr>
            </a:pPr>
            <a:r>
              <a:rPr sz="1125" b="1">
                <a:solidFill>
                  <a:srgbClr val="0EA5E9"/>
                </a:solidFill>
              </a:rPr>
              <a:t>版本：v2.0 · 2026-07</a:t>
            </a:r>
          </a:p>
        </p:txBody>
      </p:sp>
      <p:sp>
        <p:nvSpPr>
          <p:cNvPr id="11" name="pill">
            <a:extLst xmlns:a="http://schemas.openxmlformats.org/drawingml/2006/main">
              <a:ext uri="{FF2B5EF4-FFF2-40B4-BE49-F238E27FC236}">
                <a16:creationId xmlns:a16="http://schemas.microsoft.com/office/drawing/2014/main" id="{5B84B018-0697-41DC-AD42-89099460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910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235AB47-C1E3-4651-A4A6-F2E33C7D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910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对象：接手研发与运维人员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C966BD5-34BC-4FE9-9E96-F4A892F1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交付目标：听完即可启动、演示、定位代码并规划生产化改造</a:t>
            </a:r>
          </a:p>
        </p:txBody>
      </p:sp>
    </p:spTree>
    <p:extLst>
      <p:ext uri="{BB962C8B-B14F-4D97-AF65-F5344CB8AC3E}">
        <p14:creationId xmlns:p14="http://schemas.microsoft.com/office/powerpoint/2010/main" val="1839028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age-no">
            <a:extLst xmlns:a="http://schemas.openxmlformats.org/drawingml/2006/main">
              <a:ext uri="{FF2B5EF4-FFF2-40B4-BE49-F238E27FC236}">
                <a16:creationId xmlns:a16="http://schemas.microsoft.com/office/drawing/2014/main" id="{C21F794F-FA55-4B66-A967-600BAFBE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02953A-B73E-4425-850C-BBC9ECE2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这是一套跑通业务闭环的前端演示原型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E8496C0-F874-4C39-A975-F5E122C9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先明确系统边界，再讨论功能与技术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721-5BC5-4899-ABCA-79553786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2D0EEBB-B04E-414C-BC81-3FA3D80C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核心结论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D56C86-4EE8-40E5-8D1C-38CE186D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患者提交需求，管理员处理，双方通过同一浏览器数据状态完成闭环。</a:t>
            </a:r>
          </a:p>
        </p:txBody>
      </p:sp>
      <p:sp>
        <p:nvSpPr>
          <p:cNvPr id="7" name="node">
            <a:extLst xmlns:a="http://schemas.openxmlformats.org/drawingml/2006/main">
              <a:ext uri="{FF2B5EF4-FFF2-40B4-BE49-F238E27FC236}">
                <a16:creationId xmlns:a16="http://schemas.microsoft.com/office/drawing/2014/main" id="{ACA8C4D4-0389-4D2C-8378-CE7AF87B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CFF90E-B0C1-4B1E-AD4F-9581B02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患者端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A1A4CF-EBF6-4C3D-A462-07F7319E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提交 / 查询 / 报告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9BB70E69-2E28-493B-8774-B0C489EC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9C8E8BF8-5922-4DDC-87DE-5B8918CB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565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FB7C62-C676-4985-BFDE-109BB3E9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71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共享业务状态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4E287B5-439D-47A0-84E1-E0B28EF6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290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CareStore + localStorage</a:t>
            </a:r>
          </a:p>
        </p:txBody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79AEB165-31C9-4379-B807-B5A86117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86175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node">
            <a:extLst xmlns:a="http://schemas.openxmlformats.org/drawingml/2006/main">
              <a:ext uri="{FF2B5EF4-FFF2-40B4-BE49-F238E27FC236}">
                <a16:creationId xmlns:a16="http://schemas.microsoft.com/office/drawing/2014/main" id="{3BECD2D8-F4CE-4608-8681-862A94D1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9565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81D455F-60A7-40A7-BFA2-9BDD4E12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管理后台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2DEDFD1-0E71-4852-A36D-CB4C974A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290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审批 / 派单 / 发布</a:t>
            </a:r>
          </a:p>
        </p:txBody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F1D66F5D-0CA3-40A2-B1FE-379CEF90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62100"/>
            <a:ext cx="1962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CA718E7-A7D3-4409-BFC6-E8CC1B40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52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C2626"/>
                </a:solidFill>
              </a:defRPr>
            </a:pPr>
            <a:r>
              <a:rPr sz="1425" b="1">
                <a:solidFill>
                  <a:srgbClr val="DC2626"/>
                </a:solidFill>
              </a:rPr>
              <a:t>当前不包含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B5FE445-FF79-4216-B322-1FF8AC51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DA713ED-5A11-4D57-83E7-D54B169F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098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后端服务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32A1FB4-B929-4D1D-AFCF-9799164C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717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E4E1DF7-C1AB-4DCA-B3DE-7D023593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数据库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8339E83-E1CF-4710-9512-0D36D7F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337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3CB29BE-A676-4569-878D-1783119C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337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真实鉴权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45A1F64-E8B3-45AA-982A-2DD1C29B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95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7FFED0B-FC52-441B-A4D6-B2C18FAA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956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真实短信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7B9FEEF-43D2-4FC6-B3B6-ADDFBD0A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576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B8894F8-37E0-4FFF-B0BB-D07191B5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57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3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生产 OCR / LLM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00B1CF6-BBFA-4E97-B877-C7FDFCDA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195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3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6893166-0B34-4B92-8C36-6685A815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195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自动化测试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75395BD-46AE-4EA5-ACB9-136698BB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</a:defRPr>
            </a:pPr>
            <a:r>
              <a:rPr sz="1725" b="1">
                <a:solidFill>
                  <a:srgbClr val="F59E0B"/>
                </a:solidFill>
              </a:rPr>
              <a:t>因此：可演示、可验证业务规则；不可直接承载真实患者数据。</a:t>
            </a:r>
          </a:p>
        </p:txBody>
      </p:sp>
      <p:sp>
        <p:nvSpPr>
          <p:cNvPr id="33" name="source">
            <a:extLst xmlns:a="http://schemas.openxmlformats.org/drawingml/2006/main">
              <a:ext uri="{FF2B5EF4-FFF2-40B4-BE49-F238E27FC236}">
                <a16:creationId xmlns:a16="http://schemas.microsoft.com/office/drawing/2014/main" id="{520BD9B4-83B8-4DC6-83A5-F69CD9A1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代码依据：index.html · js/store.js · js/workflow.js</a:t>
            </a:r>
          </a:p>
        </p:txBody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3B3B960F-A0B2-48DB-ABEF-C87740AC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388233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age-no">
            <a:extLst xmlns:a="http://schemas.openxmlformats.org/drawingml/2006/main">
              <a:ext uri="{FF2B5EF4-FFF2-40B4-BE49-F238E27FC236}">
                <a16:creationId xmlns:a16="http://schemas.microsoft.com/office/drawing/2014/main" id="{3E242311-59A3-41CC-B6CF-851175C3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58610A-0FEA-486D-9C18-D82AA03F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功能围绕患者与运营两条主线展开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AB83F6-3E78-4EDC-B564-5CE958B7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陪诊师目前是后台管理对象，不是独立登录端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3506EFC-3C3B-4618-8902-E05483B3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D8CAAC9-3E78-4071-AA5F-6F3FA685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患者端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F66E65AE-4CE7-4243-A274-02B8F25D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0480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AC96432-52ED-4F91-88F6-A3D2E047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6C0FBC-F994-42D2-ACB1-D48D0B96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AI / 人工双路径提交需求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595E79A-5692-4FCA-876B-33F6F548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C66A824-E2CF-4328-9597-1C6208F0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身份证与检查资料演示上传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0A5C5C8-B252-4FF9-978E-6A74B33D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7FCC455-0357-4552-8C3B-A55D4DBD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需求、状态和通知查询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45DA535-DBB9-45DD-9BDE-D2634C8E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0B49126-ABD9-48E7-8BE7-AEF4532F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医院介绍与公开收费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E65DD89-DA32-486D-BB9B-C05C1729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50B69B8-BC78-4582-9F77-24ABBDBC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陪诊报告与通俗说明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DB3B82D-D02A-4108-A57B-D186D40A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66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A5E9"/>
                </a:solidFill>
              </a:defRPr>
            </a:pPr>
            <a:r>
              <a:rPr sz="1800" b="1">
                <a:solidFill>
                  <a:srgbClr val="0EA5E9"/>
                </a:solidFill>
              </a:rPr>
              <a:t>管理后台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9008EA79-FC50-4D60-AF1E-CC7CB314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43100"/>
            <a:ext cx="30480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D185A54-A1E7-48DB-9C5A-F8BB83C9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C5D3B11-B12D-4F78-99FC-5865825E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工作台与风险提示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2EA3F68-75F8-4770-A29C-2BB7C6D2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813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DD9E393-0746-42C1-9731-A3D7B24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需求分配与状态推进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F1A135C-B5B0-484B-B443-BB9D441F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9CECEDF-156B-4188-AFF8-24DCB0F9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陪诊师档案管理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2DE9E93-E7E2-4A21-AE8B-46F4B055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862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7D15C14-BFC5-4E01-9EA1-A7AFFCC9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医院申请审批与资料维护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BD8FCB9-7353-4D42-B2F5-E930DF6E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38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3E0F07E-ADC5-4435-B949-D7A5146F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收费标准、报告和评价管理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B2C451E-3E02-46FA-88FB-CBC54F45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跨端闭环</a:t>
            </a:r>
          </a:p>
        </p:txBody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FEAB7DA7-BE84-47F5-BDF5-B7E632A6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30480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A027833-EF91-467E-9EDC-8DE296B7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288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5E2739F8-ADB8-4980-B026-2DB0972C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统一需求状态机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16F6F79-9005-4061-A8B5-9EAD819C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D36B157E-C544-44CF-8094-DAE58D91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医院申请回填草稿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51BBFCF3-AE76-4C1C-95E9-93B091F0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9814D7F-52A6-4B68-8C1F-EC8CF8F7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角色隔离通知与去重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7676002-3257-4924-9A1A-C42AF8A6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862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DB2D93F3-C168-4991-93C6-C1C0B1B0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价格修改患者端立即可见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0DB8F0BF-4C09-4890-AD56-335466F0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1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2985161C-CD5A-4C56-B1D9-A88732A2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已完成需求发布报告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4D9C25D9-E7EF-485C-9D00-51713095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接手时优先维护“需求状态 + Store + workflow 覆盖层”，而不是从页面样式开始。</a:t>
            </a:r>
          </a:p>
        </p:txBody>
      </p:sp>
      <p:sp>
        <p:nvSpPr>
          <p:cNvPr id="42" name="source">
            <a:extLst xmlns:a="http://schemas.openxmlformats.org/drawingml/2006/main">
              <a:ext uri="{FF2B5EF4-FFF2-40B4-BE49-F238E27FC236}">
                <a16:creationId xmlns:a16="http://schemas.microsoft.com/office/drawing/2014/main" id="{69765CC8-DDA3-486D-A754-142C063F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代码依据：js/patient.js · js/admin.js · js/store.js · js/workflow.js</a:t>
            </a:r>
          </a:p>
        </p:txBody>
      </p:sp>
      <p:sp>
        <p:nvSpPr>
          <p:cNvPr id="43" name="footer">
            <a:extLst xmlns:a="http://schemas.openxmlformats.org/drawingml/2006/main">
              <a:ext uri="{FF2B5EF4-FFF2-40B4-BE49-F238E27FC236}">
                <a16:creationId xmlns:a16="http://schemas.microsoft.com/office/drawing/2014/main" id="{F02C4468-75C5-4A2F-A344-922BC395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291209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age-no">
            <a:extLst xmlns:a="http://schemas.openxmlformats.org/drawingml/2006/main">
              <a:ext uri="{FF2B5EF4-FFF2-40B4-BE49-F238E27FC236}">
                <a16:creationId xmlns:a16="http://schemas.microsoft.com/office/drawing/2014/main" id="{0670156F-6FF4-4533-B2BF-47C42B31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FDAED1-18BD-4F71-8988-476E15F2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三分钟即可启动并进入演示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7EB9E6-8F36-4351-B952-A7066373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零构建：静态目录直接运行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9B60561-B12E-47C9-BB3E-C0D2D0FC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rminal">
            <a:extLst xmlns:a="http://schemas.openxmlformats.org/drawingml/2006/main">
              <a:ext uri="{FF2B5EF4-FFF2-40B4-BE49-F238E27FC236}">
                <a16:creationId xmlns:a16="http://schemas.microsoft.com/office/drawing/2014/main" id="{0619288D-7FE2-41CF-B920-11925BAF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857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68BF0C6-2D44-4BFC-89C9-DC1F18A3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启动方式</a:t>
            </a:r>
          </a:p>
        </p:txBody>
      </p:sp>
      <p:sp>
        <p:nvSpPr>
          <p:cNvPr id="7" name="command">
            <a:extLst xmlns:a="http://schemas.openxmlformats.org/drawingml/2006/main">
              <a:ext uri="{FF2B5EF4-FFF2-40B4-BE49-F238E27FC236}">
                <a16:creationId xmlns:a16="http://schemas.microsoft.com/office/drawing/2014/main" id="{9F7FCD3E-65E9-4FF7-B060-1EFDE02D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19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cd /项目目录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python3 -m http.server 9876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浏览器访问：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http://127.0.0.1:9876/index.html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F3558EB-D342-4C6A-AD4B-3CB9A70D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1E5FF"/>
                </a:solidFill>
              </a:defRPr>
            </a:pPr>
            <a:r>
              <a:rPr sz="1275" b="0">
                <a:solidFill>
                  <a:srgbClr val="D1E5FF"/>
                </a:solidFill>
              </a:rPr>
              <a:t>患者：手机号任意演示值 / 验证码 8888</a:t>
            </a:r>
          </a:p>
          <a:p xmlns:a="http://schemas.openxmlformats.org/drawingml/2006/main">
            <a:pPr algn="l">
              <a:defRPr sz="1275" b="0">
                <a:solidFill>
                  <a:srgbClr val="D1E5FF"/>
                </a:solidFill>
              </a:defRPr>
            </a:pPr>
            <a:r>
              <a:rPr sz="1275" b="0">
                <a:solidFill>
                  <a:srgbClr val="D1E5FF"/>
                </a:solidFill>
              </a:rPr>
              <a:t>管理员：admin@huwuyou</a:t>
            </a:r>
          </a:p>
          <a:p xmlns:a="http://schemas.openxmlformats.org/drawingml/2006/main">
            <a:pPr algn="l">
              <a:defRPr sz="1275" b="0">
                <a:solidFill>
                  <a:srgbClr val="D1E5FF"/>
                </a:solidFill>
              </a:defRPr>
            </a:pPr>
            <a:r>
              <a:rPr sz="1275" b="0">
                <a:solidFill>
                  <a:srgbClr val="D1E5FF"/>
                </a:solidFill>
              </a:rPr>
              <a:t>密码：huwuyou2026 / 验证码 8888</a:t>
            </a:r>
          </a:p>
          <a:p xmlns:a="http://schemas.openxmlformats.org/drawingml/2006/main">
            <a:pPr algn="l">
              <a:defRPr sz="1275" b="0">
                <a:solidFill>
                  <a:srgbClr val="D1E5FF"/>
                </a:solidFill>
              </a:defRPr>
            </a:pPr>
            <a:r>
              <a:rPr sz="1275" b="0">
                <a:solidFill>
                  <a:srgbClr val="D1E5FF"/>
                </a:solidFill>
              </a:rPr>
              <a:t>也可直接点击“一键演示登录”</a:t>
            </a:r>
          </a:p>
        </p:txBody>
      </p:sp>
      <p:sp>
        <p:nvSpPr>
          <p:cNvPr id="9" name="role-guide">
            <a:extLst xmlns:a="http://schemas.openxmlformats.org/drawingml/2006/main">
              <a:ext uri="{FF2B5EF4-FFF2-40B4-BE49-F238E27FC236}">
                <a16:creationId xmlns:a16="http://schemas.microsoft.com/office/drawing/2014/main" id="{85CD7CB3-3A2E-48D3-AF2F-97A2535B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09700"/>
            <a:ext cx="55816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B95FAF-6D6E-46D0-9F5B-DD1253B4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选择角色进入系统</a:t>
            </a:r>
          </a:p>
        </p:txBody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AC86CD82-C51C-46F6-BE11-62E111E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905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A0956D-E7AC-4D15-9ADE-02654C48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336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我是患者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6FE90E0-58CB-46E7-AC7D-1497B564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480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提交需求 · 查看进度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D8A097B1-C7EB-4BA1-9840-E571D5AA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905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CC05808-F1A3-459B-95DC-BAA56FCA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我是管理员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025C32-6F8F-4317-8CDB-0BC7069B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480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处理需求 · 管理数据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2B3E6DD-215B-4BFE-9375-418DE4B7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角色选择 → 一键演示登录 → 进入对应工作台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4C0E739-724A-4077-BD2B-90E066CF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刷新页面可返回角色选择；退出登录需要确认。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2FCFA40-0141-43E7-92B9-65D651AD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注意：刷新会保留业务数据；“系统设置 → 重置演示数据”才会恢复默认数据。</a:t>
            </a:r>
          </a:p>
        </p:txBody>
      </p:sp>
      <p:sp>
        <p:nvSpPr>
          <p:cNvPr id="20" name="source">
            <a:extLst xmlns:a="http://schemas.openxmlformats.org/drawingml/2006/main">
              <a:ext uri="{FF2B5EF4-FFF2-40B4-BE49-F238E27FC236}">
                <a16:creationId xmlns:a16="http://schemas.microsoft.com/office/drawing/2014/main" id="{265A64A3-FD9C-449E-A761-AEA9E44B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入口：index.html · 登录逻辑：js/app.js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F8265BC2-87A2-46D2-A374-BA262377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1814451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no">
            <a:extLst xmlns:a="http://schemas.openxmlformats.org/drawingml/2006/main">
              <a:ext uri="{FF2B5EF4-FFF2-40B4-BE49-F238E27FC236}">
                <a16:creationId xmlns:a16="http://schemas.microsoft.com/office/drawing/2014/main" id="{D2A71CBF-9978-49CB-9AAB-52DC4C10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328A9D-D44A-4FC3-8F6E-BC1A7026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患者端按“提交—跟踪—查看结果”使用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241F21-BEF9-4B30-A151-F1CCADA0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AI 只整理草稿，最终提交必须由患者确认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178937C-F286-414D-9A8D-69467587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b959550c5493d"/>
          <a:srcRect xmlns:a="http://schemas.openxmlformats.org/drawingml/2006/main" l="23072" t="0" r="230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4286250" cy="44767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6" name="pill">
            <a:extLst xmlns:a="http://schemas.openxmlformats.org/drawingml/2006/main">
              <a:ext uri="{FF2B5EF4-FFF2-40B4-BE49-F238E27FC236}">
                <a16:creationId xmlns:a16="http://schemas.microsoft.com/office/drawing/2014/main" id="{72D644B3-81B6-4FE3-8E1E-B9304647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04950"/>
            <a:ext cx="381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E7FA6AB-9DE2-4EF8-A7EC-93F155B5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049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89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31E6D0-6D6D-4091-A9BB-5430419B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668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首页进入“智能陪诊助理”或“我的需求”</a:t>
            </a:r>
          </a:p>
        </p:txBody>
      </p:sp>
      <p:sp>
        <p:nvSpPr>
          <p:cNvPr id="9" name="pill">
            <a:extLst xmlns:a="http://schemas.openxmlformats.org/drawingml/2006/main">
              <a:ext uri="{FF2B5EF4-FFF2-40B4-BE49-F238E27FC236}">
                <a16:creationId xmlns:a16="http://schemas.microsoft.com/office/drawing/2014/main" id="{B83F145B-7B04-44A3-876D-C919BA63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52650"/>
            <a:ext cx="381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9E9CC76-8A59-40B4-99A2-AB166B9B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526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89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1146B3E-78EE-48E1-8A85-FE070F9B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145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口述/填写医院、科室、日期和服务类型</a:t>
            </a:r>
          </a:p>
        </p:txBody>
      </p:sp>
      <p:sp>
        <p:nvSpPr>
          <p:cNvPr id="12" name="pill">
            <a:extLst xmlns:a="http://schemas.openxmlformats.org/drawingml/2006/main">
              <a:ext uri="{FF2B5EF4-FFF2-40B4-BE49-F238E27FC236}">
                <a16:creationId xmlns:a16="http://schemas.microsoft.com/office/drawing/2014/main" id="{824BE5CE-BDDC-4756-A83F-C422DDD5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0350"/>
            <a:ext cx="381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7553217-730E-401C-BBC8-35194826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003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89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230E086-A52E-4045-8051-A3A17AD5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622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确认信息 → 身份证演示识别 → 检查报告</a:t>
            </a:r>
          </a:p>
        </p:txBody>
      </p:sp>
      <p:sp>
        <p:nvSpPr>
          <p:cNvPr id="15" name="pill">
            <a:extLst xmlns:a="http://schemas.openxmlformats.org/drawingml/2006/main">
              <a:ext uri="{FF2B5EF4-FFF2-40B4-BE49-F238E27FC236}">
                <a16:creationId xmlns:a16="http://schemas.microsoft.com/office/drawing/2014/main" id="{C450196B-720C-4126-8A3D-F06F61D3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48050"/>
            <a:ext cx="381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456725A-BE7A-4038-921D-53FDBB7F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480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89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3761640-30B5-4EF7-A60E-2EB67190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99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最终确认并提交，需求进入“待处理”</a:t>
            </a:r>
          </a:p>
        </p:txBody>
      </p:sp>
      <p:sp>
        <p:nvSpPr>
          <p:cNvPr id="18" name="pill">
            <a:extLst xmlns:a="http://schemas.openxmlformats.org/drawingml/2006/main">
              <a:ext uri="{FF2B5EF4-FFF2-40B4-BE49-F238E27FC236}">
                <a16:creationId xmlns:a16="http://schemas.microsoft.com/office/drawing/2014/main" id="{0120B96F-7FF3-49C9-8D78-6AA1907F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381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04C5DD3-688E-431F-BF3E-A2DB4EEA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957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89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A4FD890-6683-42B6-93AE-21E83C9E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576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在“陪诊进度”查看分配、服务与完成状态</a:t>
            </a:r>
          </a:p>
        </p:txBody>
      </p:sp>
      <p:sp>
        <p:nvSpPr>
          <p:cNvPr id="21" name="pill">
            <a:extLst xmlns:a="http://schemas.openxmlformats.org/drawingml/2006/main">
              <a:ext uri="{FF2B5EF4-FFF2-40B4-BE49-F238E27FC236}">
                <a16:creationId xmlns:a16="http://schemas.microsoft.com/office/drawing/2014/main" id="{5DA5C699-DDAA-442F-9E31-2036E276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43450"/>
            <a:ext cx="381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D3F126D-A111-4274-8BD7-14F0D4B7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434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89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6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D1F705F-D45F-437D-8650-3767C6B5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053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完成后查看陪诊报告和通俗说明</a:t>
            </a:r>
          </a:p>
        </p:txBody>
      </p:sp>
      <p:sp>
        <p:nvSpPr>
          <p:cNvPr id="24" name="source">
            <a:extLst xmlns:a="http://schemas.openxmlformats.org/drawingml/2006/main">
              <a:ext uri="{FF2B5EF4-FFF2-40B4-BE49-F238E27FC236}">
                <a16:creationId xmlns:a16="http://schemas.microsoft.com/office/drawing/2014/main" id="{3AE73F42-D8B4-4BDD-8BDD-FDD5E563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代码依据：js/patient.js · js/workflow.js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C225DE5E-BF6F-42C9-AEE8-9F2CF95D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161248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age-no">
            <a:extLst xmlns:a="http://schemas.openxmlformats.org/drawingml/2006/main">
              <a:ext uri="{FF2B5EF4-FFF2-40B4-BE49-F238E27FC236}">
                <a16:creationId xmlns:a16="http://schemas.microsoft.com/office/drawing/2014/main" id="{D7DBBD79-C5CC-482D-BB3E-EE824763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1DDC81-6C63-4FA2-B430-11C352F8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管理端完成审批、派单、履约与报告发布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13638C-C003-44C8-8205-0C62122A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用同一浏览器切换角色即可看到患者新提交的需求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4A29012-8402-4D74-8EEA-C2D1B16E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admin-map">
            <a:extLst xmlns:a="http://schemas.openxmlformats.org/drawingml/2006/main">
              <a:ext uri="{FF2B5EF4-FFF2-40B4-BE49-F238E27FC236}">
                <a16:creationId xmlns:a16="http://schemas.microsoft.com/office/drawing/2014/main" id="{2CECAE1A-F195-4A95-ABCB-892110F2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9055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7D7FB18-6431-4E5D-97E1-BB9E342C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管理后台导航</a:t>
            </a:r>
          </a:p>
        </p:txBody>
      </p:sp>
      <p:sp>
        <p:nvSpPr>
          <p:cNvPr id="7" name="pill">
            <a:extLst xmlns:a="http://schemas.openxmlformats.org/drawingml/2006/main">
              <a:ext uri="{FF2B5EF4-FFF2-40B4-BE49-F238E27FC236}">
                <a16:creationId xmlns:a16="http://schemas.microsoft.com/office/drawing/2014/main" id="{BAE885F3-8B98-4F6B-A126-D50BA775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577D766-5FB7-4E52-8A45-6759B622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工作台</a:t>
            </a:r>
          </a:p>
        </p:txBody>
      </p:sp>
      <p:sp>
        <p:nvSpPr>
          <p:cNvPr id="9" name="pill">
            <a:extLst xmlns:a="http://schemas.openxmlformats.org/drawingml/2006/main">
              <a:ext uri="{FF2B5EF4-FFF2-40B4-BE49-F238E27FC236}">
                <a16:creationId xmlns:a16="http://schemas.microsoft.com/office/drawing/2014/main" id="{AF8C3E2F-4451-4E9D-941F-FD85935B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6695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7E80F51-0EBB-44BE-A1B1-2E79AD92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669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需求处理</a:t>
            </a:r>
          </a:p>
        </p:txBody>
      </p:sp>
      <p:sp>
        <p:nvSpPr>
          <p:cNvPr id="11" name="pill">
            <a:extLst xmlns:a="http://schemas.openxmlformats.org/drawingml/2006/main">
              <a:ext uri="{FF2B5EF4-FFF2-40B4-BE49-F238E27FC236}">
                <a16:creationId xmlns:a16="http://schemas.microsoft.com/office/drawing/2014/main" id="{663E2670-2262-4114-9005-36EDC62F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D63D02-0554-4EF0-8BBF-F56A786C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服务跟踪</a:t>
            </a:r>
          </a:p>
        </p:txBody>
      </p:sp>
      <p:sp>
        <p:nvSpPr>
          <p:cNvPr id="13" name="pill">
            <a:extLst xmlns:a="http://schemas.openxmlformats.org/drawingml/2006/main">
              <a:ext uri="{FF2B5EF4-FFF2-40B4-BE49-F238E27FC236}">
                <a16:creationId xmlns:a16="http://schemas.microsoft.com/office/drawing/2014/main" id="{FA1B376E-1CAF-4BAF-86E8-E2F422FE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CB6FE89-A010-45B4-8FAF-75F91204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服务收费</a:t>
            </a:r>
          </a:p>
        </p:txBody>
      </p:sp>
      <p:sp>
        <p:nvSpPr>
          <p:cNvPr id="15" name="pill">
            <a:extLst xmlns:a="http://schemas.openxmlformats.org/drawingml/2006/main">
              <a:ext uri="{FF2B5EF4-FFF2-40B4-BE49-F238E27FC236}">
                <a16:creationId xmlns:a16="http://schemas.microsoft.com/office/drawing/2014/main" id="{9D689F52-F994-43AC-8AF8-CCB2445E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941CF5F-E9AE-41EF-8657-22D6E7B0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患者档案</a:t>
            </a:r>
          </a:p>
        </p:txBody>
      </p:sp>
      <p:sp>
        <p:nvSpPr>
          <p:cNvPr id="17" name="pill">
            <a:extLst xmlns:a="http://schemas.openxmlformats.org/drawingml/2006/main">
              <a:ext uri="{FF2B5EF4-FFF2-40B4-BE49-F238E27FC236}">
                <a16:creationId xmlns:a16="http://schemas.microsoft.com/office/drawing/2014/main" id="{6D21D912-5F4D-4BA3-AD01-89492E8D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A8724B7-C499-4364-B6FE-4D03BBBA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陪诊师管理</a:t>
            </a:r>
          </a:p>
        </p:txBody>
      </p:sp>
      <p:sp>
        <p:nvSpPr>
          <p:cNvPr id="19" name="pill">
            <a:extLst xmlns:a="http://schemas.openxmlformats.org/drawingml/2006/main">
              <a:ext uri="{FF2B5EF4-FFF2-40B4-BE49-F238E27FC236}">
                <a16:creationId xmlns:a16="http://schemas.microsoft.com/office/drawing/2014/main" id="{EB7F5433-D496-4205-80D6-FB63DAD1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FDF92FA-DCA1-4648-9AF4-C3C52E78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医院审批与资料</a:t>
            </a:r>
          </a:p>
        </p:txBody>
      </p:sp>
      <p:sp>
        <p:nvSpPr>
          <p:cNvPr id="21" name="pill">
            <a:extLst xmlns:a="http://schemas.openxmlformats.org/drawingml/2006/main">
              <a:ext uri="{FF2B5EF4-FFF2-40B4-BE49-F238E27FC236}">
                <a16:creationId xmlns:a16="http://schemas.microsoft.com/office/drawing/2014/main" id="{ACD0A80E-BACC-44D2-80D3-25F1514D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1955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069F09E-93BA-49DA-AEC5-B477F24A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195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评价反馈</a:t>
            </a:r>
          </a:p>
        </p:txBody>
      </p:sp>
      <p:sp>
        <p:nvSpPr>
          <p:cNvPr id="23" name="pill">
            <a:extLst xmlns:a="http://schemas.openxmlformats.org/drawingml/2006/main">
              <a:ext uri="{FF2B5EF4-FFF2-40B4-BE49-F238E27FC236}">
                <a16:creationId xmlns:a16="http://schemas.microsoft.com/office/drawing/2014/main" id="{77868B28-F3E5-4526-A4CA-DAA17CDA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1955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E38286C-2F8D-4609-88C9-A40C6BFC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95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系统设置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79E375E-0B12-4D7B-B2BD-9052C768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主线操作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B6A1560-8556-4AED-AAB0-320D7414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292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需求处理 → 服务跟踪 → 发布报告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7FE53B60-6A6E-4916-BCB7-6E63E404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85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需求处理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46E041B-404F-43B1-90C3-B49A759F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859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打开待处理需求 → 分配陪诊师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F6DA9DC2-B7A2-4440-B905-1BE1143B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4495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31ED967-A1F5-4265-8241-A07D38F7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服务跟踪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17FE2D1-1197-43B9-AACB-092C5CB8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开始服务 → 完成服务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B73AA737-C4BE-4AE5-AD4F-B0A43CCF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57475"/>
            <a:ext cx="4495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F7723C5-96C8-45D5-9ADD-D38B205C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医院审批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3C73B10F-7174-4871-BAE6-BE3FB7CA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通过后创建/关联医院并回填草稿</a:t>
            </a:r>
          </a:p>
        </p:txBody>
      </p:sp>
      <p:sp>
        <p:nvSpPr>
          <p:cNvPr id="35" name="line">
            <a:extLst xmlns:a="http://schemas.openxmlformats.org/drawingml/2006/main">
              <a:ext uri="{FF2B5EF4-FFF2-40B4-BE49-F238E27FC236}">
                <a16:creationId xmlns:a16="http://schemas.microsoft.com/office/drawing/2014/main" id="{7BAE42ED-4865-4DB9-BD34-E9FCD826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62325"/>
            <a:ext cx="4495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73D8A30-C13D-4EDD-90AE-1DBF2DE8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服务收费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74764B3-4B46-43C8-92F6-974F3644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修改公开价格，患者端立即读取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E3CC6B61-A224-47BE-BBFA-6B5EC9C5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67175"/>
            <a:ext cx="4495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889FBF1C-453C-4D16-8BC1-D1F262FC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报告管理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909F7325-C3B5-42F0-A53B-8BAE9CA0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仅对已完成需求编辑并发布报告</a:t>
            </a:r>
          </a:p>
        </p:txBody>
      </p:sp>
      <p:sp>
        <p:nvSpPr>
          <p:cNvPr id="41" name="line">
            <a:extLst xmlns:a="http://schemas.openxmlformats.org/drawingml/2006/main">
              <a:ext uri="{FF2B5EF4-FFF2-40B4-BE49-F238E27FC236}">
                <a16:creationId xmlns:a16="http://schemas.microsoft.com/office/drawing/2014/main" id="{395B50BE-5E30-4B02-8A9A-4FE1764E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72025"/>
            <a:ext cx="4495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B5C6DB0F-13D1-40F1-BA4E-950C6C8F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系统设置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6156FD87-2749-4C4F-B21A-F0E0098E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01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查看演示边界或重置数据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10414F62-75F8-4FA8-BBA3-1918E700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76875"/>
            <a:ext cx="4495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source">
            <a:extLst xmlns:a="http://schemas.openxmlformats.org/drawingml/2006/main">
              <a:ext uri="{FF2B5EF4-FFF2-40B4-BE49-F238E27FC236}">
                <a16:creationId xmlns:a16="http://schemas.microsoft.com/office/drawing/2014/main" id="{D60653C5-D046-4B5D-911B-82DC1F82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代码依据：js/admin.js · js/workflow.js</a:t>
            </a:r>
          </a:p>
        </p:txBody>
      </p:sp>
      <p:sp>
        <p:nvSpPr>
          <p:cNvPr id="46" name="footer">
            <a:extLst xmlns:a="http://schemas.openxmlformats.org/drawingml/2006/main">
              <a:ext uri="{FF2B5EF4-FFF2-40B4-BE49-F238E27FC236}">
                <a16:creationId xmlns:a16="http://schemas.microsoft.com/office/drawing/2014/main" id="{8BA72745-30ED-4DB6-8738-EDC9E86B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7544800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no">
            <a:extLst xmlns:a="http://schemas.openxmlformats.org/drawingml/2006/main">
              <a:ext uri="{FF2B5EF4-FFF2-40B4-BE49-F238E27FC236}">
                <a16:creationId xmlns:a16="http://schemas.microsoft.com/office/drawing/2014/main" id="{4F956E95-AB7F-4FB2-A3E9-EE0F0CEA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572D0A-F32F-4FC5-9F86-181D2238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端到端闭环由共享状态与显式校验驱动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9B9931-88F4-436C-ADAD-D5F3C5FD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每个动作都写入 Store，并触发角色通知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AB82440-116F-426C-AF91-D2217D79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43197F1-9EA3-491C-9401-568032FA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患者泳道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993C2B9-D9D3-403A-8B4B-FDF57DE8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管理员泳道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E1EC4745-BBC2-4DEF-A682-C6A9C350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0200"/>
            <a:ext cx="9667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4D10EC08-644D-46D0-8A76-B3F12ABD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38600"/>
            <a:ext cx="9667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3FE54CF7-4EA7-45A6-A4BF-EEFA624E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1604CF73-6390-4CF7-AEDB-27BDC9D1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arrow">
            <a:extLst xmlns:a="http://schemas.openxmlformats.org/drawingml/2006/main">
              <a:ext uri="{FF2B5EF4-FFF2-40B4-BE49-F238E27FC236}">
                <a16:creationId xmlns:a16="http://schemas.microsoft.com/office/drawing/2014/main" id="{0886FBCF-F3F0-4364-B20E-7C475452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098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arrow">
            <a:extLst xmlns:a="http://schemas.openxmlformats.org/drawingml/2006/main">
              <a:ext uri="{FF2B5EF4-FFF2-40B4-BE49-F238E27FC236}">
                <a16:creationId xmlns:a16="http://schemas.microsoft.com/office/drawing/2014/main" id="{21E9F7DC-8C96-4EA0-8A61-A59AC80C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098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node">
            <a:extLst xmlns:a="http://schemas.openxmlformats.org/drawingml/2006/main">
              <a:ext uri="{FF2B5EF4-FFF2-40B4-BE49-F238E27FC236}">
                <a16:creationId xmlns:a16="http://schemas.microsoft.com/office/drawing/2014/main" id="{F2F63A10-E627-4812-A83F-352F6CBF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38350"/>
            <a:ext cx="1257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29728B8-FE67-43DD-B57F-C9A86BE5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描述需求</a:t>
            </a:r>
          </a:p>
        </p:txBody>
      </p:sp>
      <p:sp>
        <p:nvSpPr>
          <p:cNvPr id="15" name="node">
            <a:extLst xmlns:a="http://schemas.openxmlformats.org/drawingml/2006/main">
              <a:ext uri="{FF2B5EF4-FFF2-40B4-BE49-F238E27FC236}">
                <a16:creationId xmlns:a16="http://schemas.microsoft.com/office/drawing/2014/main" id="{9588AC38-55CA-4FA7-900E-647576CF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1257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A793BD5-703D-4FFC-962E-A01756FF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14550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确认资料</a:t>
            </a:r>
          </a:p>
        </p:txBody>
      </p:sp>
      <p:sp>
        <p:nvSpPr>
          <p:cNvPr id="17" name="node">
            <a:extLst xmlns:a="http://schemas.openxmlformats.org/drawingml/2006/main">
              <a:ext uri="{FF2B5EF4-FFF2-40B4-BE49-F238E27FC236}">
                <a16:creationId xmlns:a16="http://schemas.microsoft.com/office/drawing/2014/main" id="{F9140BBB-7649-4677-A5B4-5C75D77E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1257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6B6C398-E912-417D-9F57-6423334A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14550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提交需求</a:t>
            </a:r>
          </a:p>
        </p:txBody>
      </p:sp>
      <p:sp>
        <p:nvSpPr>
          <p:cNvPr id="19" name="node">
            <a:extLst xmlns:a="http://schemas.openxmlformats.org/drawingml/2006/main">
              <a:ext uri="{FF2B5EF4-FFF2-40B4-BE49-F238E27FC236}">
                <a16:creationId xmlns:a16="http://schemas.microsoft.com/office/drawing/2014/main" id="{9DF981BA-03DC-47F5-B862-556D3DCA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1257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8537C1A-49B6-43F6-9243-0803A300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查看进度</a:t>
            </a:r>
          </a:p>
        </p:txBody>
      </p:sp>
      <p:sp>
        <p:nvSpPr>
          <p:cNvPr id="21" name="node">
            <a:extLst xmlns:a="http://schemas.openxmlformats.org/drawingml/2006/main">
              <a:ext uri="{FF2B5EF4-FFF2-40B4-BE49-F238E27FC236}">
                <a16:creationId xmlns:a16="http://schemas.microsoft.com/office/drawing/2014/main" id="{96DDDA6F-C3CE-41EF-8C06-6B3B560B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1257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33D9662-00F8-420B-9672-B43B6480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查看报告</a:t>
            </a:r>
          </a:p>
        </p:txBody>
      </p:sp>
      <p:sp>
        <p:nvSpPr>
          <p:cNvPr id="23" name="arrow">
            <a:extLst xmlns:a="http://schemas.openxmlformats.org/drawingml/2006/main">
              <a:ext uri="{FF2B5EF4-FFF2-40B4-BE49-F238E27FC236}">
                <a16:creationId xmlns:a16="http://schemas.microsoft.com/office/drawing/2014/main" id="{DF304E10-C84E-4985-AAA6-C7D623E8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291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4" name="arrow">
            <a:extLst xmlns:a="http://schemas.openxmlformats.org/drawingml/2006/main">
              <a:ext uri="{FF2B5EF4-FFF2-40B4-BE49-F238E27FC236}">
                <a16:creationId xmlns:a16="http://schemas.microsoft.com/office/drawing/2014/main" id="{79D87676-C898-4285-AF44-2E3C51C7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291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5" name="arrow">
            <a:extLst xmlns:a="http://schemas.openxmlformats.org/drawingml/2006/main">
              <a:ext uri="{FF2B5EF4-FFF2-40B4-BE49-F238E27FC236}">
                <a16:creationId xmlns:a16="http://schemas.microsoft.com/office/drawing/2014/main" id="{63841B2A-7AC3-4CBE-A438-456AB74B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arrow">
            <a:extLst xmlns:a="http://schemas.openxmlformats.org/drawingml/2006/main">
              <a:ext uri="{FF2B5EF4-FFF2-40B4-BE49-F238E27FC236}">
                <a16:creationId xmlns:a16="http://schemas.microsoft.com/office/drawing/2014/main" id="{60F2E246-BE4E-4BA1-BCFC-A3B35335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291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7" name="node">
            <a:extLst xmlns:a="http://schemas.openxmlformats.org/drawingml/2006/main">
              <a:ext uri="{FF2B5EF4-FFF2-40B4-BE49-F238E27FC236}">
                <a16:creationId xmlns:a16="http://schemas.microsoft.com/office/drawing/2014/main" id="{ABF9A91B-67F9-49E9-B503-29251FEE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57700"/>
            <a:ext cx="1257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360C095-B1E0-4273-96BD-D4A08CCF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33900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接收通知</a:t>
            </a:r>
          </a:p>
        </p:txBody>
      </p:sp>
      <p:sp>
        <p:nvSpPr>
          <p:cNvPr id="29" name="node">
            <a:extLst xmlns:a="http://schemas.openxmlformats.org/drawingml/2006/main">
              <a:ext uri="{FF2B5EF4-FFF2-40B4-BE49-F238E27FC236}">
                <a16:creationId xmlns:a16="http://schemas.microsoft.com/office/drawing/2014/main" id="{AD5D7188-57DC-4E75-BD17-3D0E5D2E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257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636EF89-91C9-4D6A-9D6E-FE1B21A0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33900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分配陪诊师</a:t>
            </a:r>
          </a:p>
        </p:txBody>
      </p:sp>
      <p:sp>
        <p:nvSpPr>
          <p:cNvPr id="31" name="node">
            <a:extLst xmlns:a="http://schemas.openxmlformats.org/drawingml/2006/main">
              <a:ext uri="{FF2B5EF4-FFF2-40B4-BE49-F238E27FC236}">
                <a16:creationId xmlns:a16="http://schemas.microsoft.com/office/drawing/2014/main" id="{B4EDEED5-CEFE-4083-AEBA-FD015277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57700"/>
            <a:ext cx="1257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71DA261-3BCF-461C-8278-477FE883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33900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开始服务</a:t>
            </a:r>
          </a:p>
        </p:txBody>
      </p:sp>
      <p:sp>
        <p:nvSpPr>
          <p:cNvPr id="33" name="node">
            <a:extLst xmlns:a="http://schemas.openxmlformats.org/drawingml/2006/main">
              <a:ext uri="{FF2B5EF4-FFF2-40B4-BE49-F238E27FC236}">
                <a16:creationId xmlns:a16="http://schemas.microsoft.com/office/drawing/2014/main" id="{6FD1A0DA-281B-404F-A465-ECB5A29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1257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2E85B3DA-36B3-4A1A-8622-E104F35F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完成服务</a:t>
            </a:r>
          </a:p>
        </p:txBody>
      </p:sp>
      <p:sp>
        <p:nvSpPr>
          <p:cNvPr id="35" name="node">
            <a:extLst xmlns:a="http://schemas.openxmlformats.org/drawingml/2006/main">
              <a:ext uri="{FF2B5EF4-FFF2-40B4-BE49-F238E27FC236}">
                <a16:creationId xmlns:a16="http://schemas.microsoft.com/office/drawing/2014/main" id="{84B8261D-59AD-4753-96AE-DE786591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257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155659B-C641-4EA4-8C84-F1CB5D15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33900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发布报告</a:t>
            </a:r>
          </a:p>
        </p:txBody>
      </p:sp>
      <p:sp>
        <p:nvSpPr>
          <p:cNvPr id="37" name="cross-flow">
            <a:extLst xmlns:a="http://schemas.openxmlformats.org/drawingml/2006/main">
              <a:ext uri="{FF2B5EF4-FFF2-40B4-BE49-F238E27FC236}">
                <a16:creationId xmlns:a16="http://schemas.microsoft.com/office/drawing/2014/main" id="{814DC867-0D26-45F6-AE3E-331FB2A5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9525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8" name="report-back">
            <a:extLst xmlns:a="http://schemas.openxmlformats.org/drawingml/2006/main">
              <a:ext uri="{FF2B5EF4-FFF2-40B4-BE49-F238E27FC236}">
                <a16:creationId xmlns:a16="http://schemas.microsoft.com/office/drawing/2014/main" id="{7E210204-A4B6-48D1-AF54-9E87E5FF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43500"/>
            <a:ext cx="952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2365B3E6-ACAD-490C-9438-23628FF4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007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CareStore.addNeed / transitionNeed / publishReport</a:t>
            </a:r>
          </a:p>
        </p:txBody>
      </p:sp>
      <p:sp>
        <p:nvSpPr>
          <p:cNvPr id="40" name="source">
            <a:extLst xmlns:a="http://schemas.openxmlformats.org/drawingml/2006/main">
              <a:ext uri="{FF2B5EF4-FFF2-40B4-BE49-F238E27FC236}">
                <a16:creationId xmlns:a16="http://schemas.microsoft.com/office/drawing/2014/main" id="{05B54969-0F9A-4A42-A6C1-0C61DCCD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代码依据：js/store.js · js/workflow.js</a:t>
            </a:r>
          </a:p>
        </p:txBody>
      </p:sp>
      <p:sp>
        <p:nvSpPr>
          <p:cNvPr id="41" name="footer">
            <a:extLst xmlns:a="http://schemas.openxmlformats.org/drawingml/2006/main">
              <a:ext uri="{FF2B5EF4-FFF2-40B4-BE49-F238E27FC236}">
                <a16:creationId xmlns:a16="http://schemas.microsoft.com/office/drawing/2014/main" id="{1F9FED12-9704-46D4-AA4B-79579CD2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753636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ge-no">
            <a:extLst xmlns:a="http://schemas.openxmlformats.org/drawingml/2006/main">
              <a:ext uri="{FF2B5EF4-FFF2-40B4-BE49-F238E27FC236}">
                <a16:creationId xmlns:a16="http://schemas.microsoft.com/office/drawing/2014/main" id="{A2FC1FD3-64E5-4895-8DD5-34CA0CC2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F181B7-13CA-4A2A-A573-A75F48D2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技术底座是零构建的浏览器单体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FB55F6D-6C71-41A5-98FB-0D3ABCA8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结构简单，但所有模块共享全局作用域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97B4672-22CB-4F9F-BFB1-4B897884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arrow">
            <a:extLst xmlns:a="http://schemas.openxmlformats.org/drawingml/2006/main">
              <a:ext uri="{FF2B5EF4-FFF2-40B4-BE49-F238E27FC236}">
                <a16:creationId xmlns:a16="http://schemas.microsoft.com/office/drawing/2014/main" id="{3FEA3B43-96E5-4B8E-9786-656971EA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05050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B6A62813-422D-4D61-A721-05C31102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48050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arrow">
            <a:extLst xmlns:a="http://schemas.openxmlformats.org/drawingml/2006/main">
              <a:ext uri="{FF2B5EF4-FFF2-40B4-BE49-F238E27FC236}">
                <a16:creationId xmlns:a16="http://schemas.microsoft.com/office/drawing/2014/main" id="{BD7787D6-A64A-461B-92C9-18B089E2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91050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layer">
            <a:extLst xmlns:a="http://schemas.openxmlformats.org/drawingml/2006/main">
              <a:ext uri="{FF2B5EF4-FFF2-40B4-BE49-F238E27FC236}">
                <a16:creationId xmlns:a16="http://schemas.microsoft.com/office/drawing/2014/main" id="{C00D4D21-8540-478B-B26B-B2246256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428750"/>
            <a:ext cx="8724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41AB6B0-A872-41A6-ADCC-388649E4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002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界面层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A84601D-593C-4811-8CF4-8EF2557D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601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患者端 / 管理后台 / AI 抽屉</a:t>
            </a:r>
          </a:p>
        </p:txBody>
      </p:sp>
      <p:sp>
        <p:nvSpPr>
          <p:cNvPr id="11" name="layer">
            <a:extLst xmlns:a="http://schemas.openxmlformats.org/drawingml/2006/main">
              <a:ext uri="{FF2B5EF4-FFF2-40B4-BE49-F238E27FC236}">
                <a16:creationId xmlns:a16="http://schemas.microsoft.com/office/drawing/2014/main" id="{E6CBEAC4-30C1-410A-9D4D-F01E9F8C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71750"/>
            <a:ext cx="8724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D2BCB01-97E1-4411-A7E0-99F9C849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432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交互层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83BAAFE-0770-4360-A1D4-C65C24B3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601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App / Patient / Admin / workflow 覆盖</a:t>
            </a:r>
          </a:p>
        </p:txBody>
      </p:sp>
      <p:sp>
        <p:nvSpPr>
          <p:cNvPr id="14" name="layer">
            <a:extLst xmlns:a="http://schemas.openxmlformats.org/drawingml/2006/main">
              <a:ext uri="{FF2B5EF4-FFF2-40B4-BE49-F238E27FC236}">
                <a16:creationId xmlns:a16="http://schemas.microsoft.com/office/drawing/2014/main" id="{A14F9FB7-3B47-4FA8-9A3E-B243DD3C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14750"/>
            <a:ext cx="8724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25B64AD-07BF-405E-9330-8FFB08DE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862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领域与状态层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DCAC3AB-15E8-4D67-9913-872307B2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86200"/>
            <a:ext cx="601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CareStore / 状态机 / 通知去重 / 价格规则</a:t>
            </a:r>
          </a:p>
        </p:txBody>
      </p:sp>
      <p:sp>
        <p:nvSpPr>
          <p:cNvPr id="17" name="layer">
            <a:extLst xmlns:a="http://schemas.openxmlformats.org/drawingml/2006/main">
              <a:ext uri="{FF2B5EF4-FFF2-40B4-BE49-F238E27FC236}">
                <a16:creationId xmlns:a16="http://schemas.microsoft.com/office/drawing/2014/main" id="{DC770263-ADD8-4C67-ACF3-0DC66D5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57750"/>
            <a:ext cx="8724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AA04CC6-0CD9-45D5-ACD3-EACDF75F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292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</a:defRPr>
            </a:pPr>
            <a:r>
              <a:rPr sz="1725" b="1">
                <a:solidFill>
                  <a:srgbClr val="F59E0B"/>
                </a:solidFill>
              </a:rPr>
              <a:t>浏览器与部署层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F770E49-3015-4BEB-AF8A-03BA9438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29200"/>
            <a:ext cx="601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DOM · localStorage · Canvas · Nginx 静态目录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8B3CE46-9F90-46C6-8210-8C35CDC4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优势：复制即可运行、调试门槛低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458EE73-4EAC-4CC3-9A84-803FA1BC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代价：全局耦合、无接口隔离、难以多人并行开发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48425AF-F6CC-44A0-BDB0-E81F7652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代码依据：index.html · js/*.js · deploy/nginx-huwuyou-demo.conf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A750A2E6-D51F-482C-8D73-06B787DB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9759094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page-no">
            <a:extLst xmlns:a="http://schemas.openxmlformats.org/drawingml/2006/main">
              <a:ext uri="{FF2B5EF4-FFF2-40B4-BE49-F238E27FC236}">
                <a16:creationId xmlns:a16="http://schemas.microsoft.com/office/drawing/2014/main" id="{BDC2797D-BFFA-4100-A573-7D1B489B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09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1BF027-4143-4477-AC07-99CFADF0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脚本加载顺序就是模块依赖顺序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5E0E3B-2D35-4B5D-8A7B-241E89DC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workflow.js 最后加载，用覆盖方式扩展旧实现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F1BFEE0-F409-4597-B1AA-4C8420A9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arrow">
            <a:extLst xmlns:a="http://schemas.openxmlformats.org/drawingml/2006/main">
              <a:ext uri="{FF2B5EF4-FFF2-40B4-BE49-F238E27FC236}">
                <a16:creationId xmlns:a16="http://schemas.microsoft.com/office/drawing/2014/main" id="{05D4A9FB-853E-4A70-8DCF-99189D89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3835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node">
            <a:extLst xmlns:a="http://schemas.openxmlformats.org/drawingml/2006/main">
              <a:ext uri="{FF2B5EF4-FFF2-40B4-BE49-F238E27FC236}">
                <a16:creationId xmlns:a16="http://schemas.microsoft.com/office/drawing/2014/main" id="{FD5BD150-7790-43C3-86DF-E0A25C90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1257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1617347-B8EB-4A00-8EF6-5D4A77DE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data.js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181641EA-00D1-40F1-9758-93E1262E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node">
            <a:extLst xmlns:a="http://schemas.openxmlformats.org/drawingml/2006/main">
              <a:ext uri="{FF2B5EF4-FFF2-40B4-BE49-F238E27FC236}">
                <a16:creationId xmlns:a16="http://schemas.microsoft.com/office/drawing/2014/main" id="{EE514C35-AD8D-439F-B485-694F2218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47850"/>
            <a:ext cx="1257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9A53575-19B6-4CA1-A0C7-283F584E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24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store.js</a:t>
            </a:r>
          </a:p>
        </p:txBody>
      </p:sp>
      <p:sp>
        <p:nvSpPr>
          <p:cNvPr id="11" name="arrow">
            <a:extLst xmlns:a="http://schemas.openxmlformats.org/drawingml/2006/main">
              <a:ext uri="{FF2B5EF4-FFF2-40B4-BE49-F238E27FC236}">
                <a16:creationId xmlns:a16="http://schemas.microsoft.com/office/drawing/2014/main" id="{3007CD23-527F-48C3-A4DD-16B82B35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3835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node">
            <a:extLst xmlns:a="http://schemas.openxmlformats.org/drawingml/2006/main">
              <a:ext uri="{FF2B5EF4-FFF2-40B4-BE49-F238E27FC236}">
                <a16:creationId xmlns:a16="http://schemas.microsoft.com/office/drawing/2014/main" id="{3F924A15-8198-4F8F-A371-20848096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47850"/>
            <a:ext cx="1257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38A411B-A6C1-4D02-90D6-45853A55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app.js</a:t>
            </a:r>
          </a:p>
        </p:txBody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32B1C4B8-DC13-4ECF-BD5F-959E16A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3835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node">
            <a:extLst xmlns:a="http://schemas.openxmlformats.org/drawingml/2006/main">
              <a:ext uri="{FF2B5EF4-FFF2-40B4-BE49-F238E27FC236}">
                <a16:creationId xmlns:a16="http://schemas.microsoft.com/office/drawing/2014/main" id="{F2313C6A-D4DA-409F-A1AA-D392A9FE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1257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160EDE-CE49-43DC-A823-0FD85001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24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patient.js</a:t>
            </a:r>
          </a:p>
        </p:txBody>
      </p:sp>
      <p:sp>
        <p:nvSpPr>
          <p:cNvPr id="17" name="arrow">
            <a:extLst xmlns:a="http://schemas.openxmlformats.org/drawingml/2006/main">
              <a:ext uri="{FF2B5EF4-FFF2-40B4-BE49-F238E27FC236}">
                <a16:creationId xmlns:a16="http://schemas.microsoft.com/office/drawing/2014/main" id="{3DF11EB2-CFB4-4266-8DF2-6A289EAB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node">
            <a:extLst xmlns:a="http://schemas.openxmlformats.org/drawingml/2006/main">
              <a:ext uri="{FF2B5EF4-FFF2-40B4-BE49-F238E27FC236}">
                <a16:creationId xmlns:a16="http://schemas.microsoft.com/office/drawing/2014/main" id="{693C2C01-F647-4437-9C53-0E801E23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47850"/>
            <a:ext cx="1257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D0AFCC2-7D9B-4846-BD05-8B404DCF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24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admin.js</a:t>
            </a:r>
          </a:p>
        </p:txBody>
      </p:sp>
      <p:sp>
        <p:nvSpPr>
          <p:cNvPr id="20" name="node">
            <a:extLst xmlns:a="http://schemas.openxmlformats.org/drawingml/2006/main">
              <a:ext uri="{FF2B5EF4-FFF2-40B4-BE49-F238E27FC236}">
                <a16:creationId xmlns:a16="http://schemas.microsoft.com/office/drawing/2014/main" id="{C16E2344-18C2-4F77-9E39-3DB32542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1257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5570EE4-5D48-4397-A7C2-E1D287F3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24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53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workflow.js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36E8520-CD2F-4DB6-93A2-3E8F884B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依赖方向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A206083-0B94-4E37-ADCB-2CA8C508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代码规模（行）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BF8D4BD-00ED-40D5-BC33-1E53A2A9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data.js</a:t>
            </a:r>
          </a:p>
        </p:txBody>
      </p:sp>
      <p:sp>
        <p:nvSpPr>
          <p:cNvPr id="25" name="bar">
            <a:extLst xmlns:a="http://schemas.openxmlformats.org/drawingml/2006/main">
              <a:ext uri="{FF2B5EF4-FFF2-40B4-BE49-F238E27FC236}">
                <a16:creationId xmlns:a16="http://schemas.microsoft.com/office/drawing/2014/main" id="{32901914-3B64-4E82-9DA1-BA601FDF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52825"/>
            <a:ext cx="131905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46F1F5B-0764-404A-A3BA-86A00A52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209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2FFFB56-714D-4819-9D2D-2973A758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store.js</a:t>
            </a:r>
          </a:p>
        </p:txBody>
      </p:sp>
      <p:sp>
        <p:nvSpPr>
          <p:cNvPr id="28" name="bar">
            <a:extLst xmlns:a="http://schemas.openxmlformats.org/drawingml/2006/main">
              <a:ext uri="{FF2B5EF4-FFF2-40B4-BE49-F238E27FC236}">
                <a16:creationId xmlns:a16="http://schemas.microsoft.com/office/drawing/2014/main" id="{1E4611C7-7AC7-4EA5-9A67-BFB7EA92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52875"/>
            <a:ext cx="225311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7FE33CE-14A9-4F7B-A60E-2B33CCC9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05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357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6D02A42-AD4B-44E1-87AB-D872D32A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app.js</a:t>
            </a:r>
          </a:p>
        </p:txBody>
      </p:sp>
      <p:sp>
        <p:nvSpPr>
          <p:cNvPr id="31" name="bar">
            <a:extLst xmlns:a="http://schemas.openxmlformats.org/drawingml/2006/main">
              <a:ext uri="{FF2B5EF4-FFF2-40B4-BE49-F238E27FC236}">
                <a16:creationId xmlns:a16="http://schemas.microsoft.com/office/drawing/2014/main" id="{88E91BA0-41DC-4E0D-9F38-AF4B4F1D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52925"/>
            <a:ext cx="374888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8E661BA-4CFE-432B-98DB-4E8B22AF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05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594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7AA944F-577A-4273-A7A9-A9E81DB2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patient.js</a:t>
            </a:r>
          </a:p>
        </p:txBody>
      </p:sp>
      <p:sp>
        <p:nvSpPr>
          <p:cNvPr id="34" name="bar">
            <a:extLst xmlns:a="http://schemas.openxmlformats.org/drawingml/2006/main">
              <a:ext uri="{FF2B5EF4-FFF2-40B4-BE49-F238E27FC236}">
                <a16:creationId xmlns:a16="http://schemas.microsoft.com/office/drawing/2014/main" id="{F7307867-55EA-4083-9644-65806B32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52975"/>
            <a:ext cx="53771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2DADD68-BBDE-4FE8-B3B6-E1DAB9EB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05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852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93CF1C7-1B8B-4045-9910-C766750D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admin.js</a:t>
            </a:r>
          </a:p>
        </p:txBody>
      </p:sp>
      <p:sp>
        <p:nvSpPr>
          <p:cNvPr id="37" name="bar">
            <a:extLst xmlns:a="http://schemas.openxmlformats.org/drawingml/2006/main">
              <a:ext uri="{FF2B5EF4-FFF2-40B4-BE49-F238E27FC236}">
                <a16:creationId xmlns:a16="http://schemas.microsoft.com/office/drawing/2014/main" id="{F852BAC7-C68F-44C1-A5FE-E6C1A32C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530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9A9E0C82-A833-45AB-9283-3837B6A2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05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1147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6ABB3552-A1A3-4FBF-93A4-8962836F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workflow.js</a:t>
            </a:r>
          </a:p>
        </p:txBody>
      </p:sp>
      <p:sp>
        <p:nvSpPr>
          <p:cNvPr id="40" name="bar">
            <a:extLst xmlns:a="http://schemas.openxmlformats.org/drawingml/2006/main">
              <a:ext uri="{FF2B5EF4-FFF2-40B4-BE49-F238E27FC236}">
                <a16:creationId xmlns:a16="http://schemas.microsoft.com/office/drawing/2014/main" id="{B9463DC7-8E6D-4399-BB6F-C5245470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53075"/>
            <a:ext cx="119913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DCE25C55-142A-4D0F-BA33-BA59D152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05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190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41A0C5CF-4A5C-4FD7-9A0D-618B90CB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</a:defRPr>
            </a:pPr>
            <a:r>
              <a:rPr sz="1425" b="1">
                <a:solidFill>
                  <a:srgbClr val="F59E0B"/>
                </a:solidFill>
              </a:rPr>
              <a:t>交接重点：admin.js 最大；workflow.js 虽短，但会重定义行为，修改前必须检查覆盖关系。</a:t>
            </a:r>
          </a:p>
        </p:txBody>
      </p:sp>
      <p:sp>
        <p:nvSpPr>
          <p:cNvPr id="43" name="source">
            <a:extLst xmlns:a="http://schemas.openxmlformats.org/drawingml/2006/main">
              <a:ext uri="{FF2B5EF4-FFF2-40B4-BE49-F238E27FC236}">
                <a16:creationId xmlns:a16="http://schemas.microsoft.com/office/drawing/2014/main" id="{2962B845-162A-46A8-BA36-77BFFDA6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代码依据：index.html 第 16–21 行 · wc -l js/*.js</a:t>
            </a:r>
          </a:p>
        </p:txBody>
      </p:sp>
      <p:sp>
        <p:nvSpPr>
          <p:cNvPr id="44" name="footer">
            <a:extLst xmlns:a="http://schemas.openxmlformats.org/drawingml/2006/main">
              <a:ext uri="{FF2B5EF4-FFF2-40B4-BE49-F238E27FC236}">
                <a16:creationId xmlns:a16="http://schemas.microsoft.com/office/drawing/2014/main" id="{EAB9AA14-9E21-4C0C-A80E-7C6D6411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2708920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age-no">
            <a:extLst xmlns:a="http://schemas.openxmlformats.org/drawingml/2006/main">
              <a:ext uri="{FF2B5EF4-FFF2-40B4-BE49-F238E27FC236}">
                <a16:creationId xmlns:a16="http://schemas.microsoft.com/office/drawing/2014/main" id="{EBC12AF1-9054-41B6-ABC2-42B2D055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D0E5C9-6114-4B8B-8303-B624FEE2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核心数据围绕需求 ID 关联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31D185-4A2D-4389-8D6D-E15DCB21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实体不嵌套复制，跨对象通过唯一 ID 连接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17A9CA0-E525-4154-98E0-6AF753DC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9D3C8E80-8188-4F2B-AEA2-00E12B95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245745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49B567D9-3B39-4405-8971-A408F1D5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45745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2F8BA2CD-3CE2-4CD3-B000-080A29E8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2457450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4D4D5670-7B25-414F-9CD8-82EC687B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457450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6AE19983-0FDB-4D98-99AF-961F9EE5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9525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0" name="node">
            <a:extLst xmlns:a="http://schemas.openxmlformats.org/drawingml/2006/main">
              <a:ext uri="{FF2B5EF4-FFF2-40B4-BE49-F238E27FC236}">
                <a16:creationId xmlns:a16="http://schemas.microsoft.com/office/drawing/2014/main" id="{11251EA2-49A8-47E5-8E6D-C7AF4463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286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9352310-F2DB-48A8-B0F8-750FBF41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Need 需求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A025DA2-90B0-4338-AE16-01884B69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03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状态 / 患者 / 医院 / 服务</a:t>
            </a:r>
          </a:p>
        </p:txBody>
      </p:sp>
      <p:sp>
        <p:nvSpPr>
          <p:cNvPr id="13" name="node">
            <a:extLst xmlns:a="http://schemas.openxmlformats.org/drawingml/2006/main">
              <a:ext uri="{FF2B5EF4-FFF2-40B4-BE49-F238E27FC236}">
                <a16:creationId xmlns:a16="http://schemas.microsoft.com/office/drawing/2014/main" id="{8DCCCF33-DC36-48BB-B328-117CDDEA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6705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784E66B-F0AA-4FED-90DA-0507E3B0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Draft 草稿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445426D-7CAF-40B3-80BC-2152728A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86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AI 与人工表单共享</a:t>
            </a:r>
          </a:p>
        </p:txBody>
      </p:sp>
      <p:sp>
        <p:nvSpPr>
          <p:cNvPr id="16" name="node">
            <a:extLst xmlns:a="http://schemas.openxmlformats.org/drawingml/2006/main">
              <a:ext uri="{FF2B5EF4-FFF2-40B4-BE49-F238E27FC236}">
                <a16:creationId xmlns:a16="http://schemas.microsoft.com/office/drawing/2014/main" id="{88A7F7C1-C221-4212-BA68-B41F93B5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DCC6C95-849F-4C27-9FD1-A0886D63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Escort 陪诊师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8915301-F157-41B3-B432-7730ADF0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86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escortName / phone</a:t>
            </a:r>
          </a:p>
        </p:txBody>
      </p:sp>
      <p:sp>
        <p:nvSpPr>
          <p:cNvPr id="19" name="node">
            <a:extLst xmlns:a="http://schemas.openxmlformats.org/drawingml/2006/main">
              <a:ext uri="{FF2B5EF4-FFF2-40B4-BE49-F238E27FC236}">
                <a16:creationId xmlns:a16="http://schemas.microsoft.com/office/drawing/2014/main" id="{2404AAA5-175F-471E-B94A-81743382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72000"/>
            <a:ext cx="2667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A3081B4-09E3-4C46-BEB5-0EB1CD83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482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HospitalApplication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9148539-2260-479E-BC65-B4CFD9DF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911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审批后回填草稿</a:t>
            </a:r>
          </a:p>
        </p:txBody>
      </p:sp>
      <p:sp>
        <p:nvSpPr>
          <p:cNvPr id="22" name="node">
            <a:extLst xmlns:a="http://schemas.openxmlformats.org/drawingml/2006/main">
              <a:ext uri="{FF2B5EF4-FFF2-40B4-BE49-F238E27FC236}">
                <a16:creationId xmlns:a16="http://schemas.microsoft.com/office/drawing/2014/main" id="{5BB7DB6B-5929-4258-9A16-94736FCC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2667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CB4E957-F927-4B6B-AD21-8B1BAC12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Notification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C9D4824-E0EC-4E1E-AD20-CB630247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911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role + targetId + eventKey</a:t>
            </a:r>
          </a:p>
        </p:txBody>
      </p:sp>
      <p:sp>
        <p:nvSpPr>
          <p:cNvPr id="25" name="node">
            <a:extLst xmlns:a="http://schemas.openxmlformats.org/drawingml/2006/main">
              <a:ext uri="{FF2B5EF4-FFF2-40B4-BE49-F238E27FC236}">
                <a16:creationId xmlns:a16="http://schemas.microsoft.com/office/drawing/2014/main" id="{89088FDA-8453-4C0D-B9D9-6DDACE02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7200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DED4860-C79B-490D-BC2D-41441130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482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EscortReport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F94703E-F503-4277-8EF0-82794826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911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仅完成需求可发布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7955B24-007E-4F01-A11A-54B50C33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持久化根对象：CareStore.state · schema version = 1 · key = huwuyou_store_v1</a:t>
            </a:r>
          </a:p>
        </p:txBody>
      </p:sp>
      <p:sp>
        <p:nvSpPr>
          <p:cNvPr id="29" name="source">
            <a:extLst xmlns:a="http://schemas.openxmlformats.org/drawingml/2006/main">
              <a:ext uri="{FF2B5EF4-FFF2-40B4-BE49-F238E27FC236}">
                <a16:creationId xmlns:a16="http://schemas.microsoft.com/office/drawing/2014/main" id="{B686B6E5-8205-4B83-BC64-1CD72ACB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代码依据：js/store.js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FE55D767-77BC-4418-94E3-6161A306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2112745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ge-no">
            <a:extLst xmlns:a="http://schemas.openxmlformats.org/drawingml/2006/main">
              <a:ext uri="{FF2B5EF4-FFF2-40B4-BE49-F238E27FC236}">
                <a16:creationId xmlns:a16="http://schemas.microsoft.com/office/drawing/2014/main" id="{8C4EDCE7-B527-4B66-93B9-A85DB025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3B30E5-E47E-417F-A9FE-CCA9BE8E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需求状态禁止跳级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4221581-6220-4151-AF03-1F0EB2C6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界面隐藏非法按钮，Store 再做一次服务端式校验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A126E0A-DC19-422B-84AF-A1EF0626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arrow">
            <a:extLst xmlns:a="http://schemas.openxmlformats.org/drawingml/2006/main">
              <a:ext uri="{FF2B5EF4-FFF2-40B4-BE49-F238E27FC236}">
                <a16:creationId xmlns:a16="http://schemas.microsoft.com/office/drawing/2014/main" id="{1E013082-1965-4103-B1E0-FD9DAE69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527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8B1DCC8F-9A0C-4358-9ABD-F2BFDDDE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527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arrow">
            <a:extLst xmlns:a="http://schemas.openxmlformats.org/drawingml/2006/main">
              <a:ext uri="{FF2B5EF4-FFF2-40B4-BE49-F238E27FC236}">
                <a16:creationId xmlns:a16="http://schemas.microsoft.com/office/drawing/2014/main" id="{1160B49E-986D-498A-88BF-027EA14E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527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CD3E8DDD-A71E-446B-9E9F-47D66E6C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947C44C-37E7-48C0-9CDF-F60CB801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待处理</a:t>
            </a:r>
          </a:p>
        </p:txBody>
      </p:sp>
      <p:sp>
        <p:nvSpPr>
          <p:cNvPr id="10" name="node">
            <a:extLst xmlns:a="http://schemas.openxmlformats.org/drawingml/2006/main">
              <a:ext uri="{FF2B5EF4-FFF2-40B4-BE49-F238E27FC236}">
                <a16:creationId xmlns:a16="http://schemas.microsoft.com/office/drawing/2014/main" id="{8F161C76-6A5D-48FF-9028-293FB494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8600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C0371C9-8A31-4EBF-8269-91A6D37B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62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已分配</a:t>
            </a:r>
          </a:p>
        </p:txBody>
      </p:sp>
      <p:sp>
        <p:nvSpPr>
          <p:cNvPr id="12" name="node">
            <a:extLst xmlns:a="http://schemas.openxmlformats.org/drawingml/2006/main">
              <a:ext uri="{FF2B5EF4-FFF2-40B4-BE49-F238E27FC236}">
                <a16:creationId xmlns:a16="http://schemas.microsoft.com/office/drawing/2014/main" id="{A6C31993-97D9-423C-948A-5DFF116B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8600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CAC4A73-75A3-4D06-9997-C19402C7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62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服务中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AE931104-67D7-427B-9A29-084A01F8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91B8FA9-F580-4880-A7C6-F13A9779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已完成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B8322145-7D76-4BF8-A69D-A0462F31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525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6E8C0EE9-7B0A-43EB-B816-A2F56C5B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05150"/>
            <a:ext cx="9525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18" name="node">
            <a:extLst xmlns:a="http://schemas.openxmlformats.org/drawingml/2006/main">
              <a:ext uri="{FF2B5EF4-FFF2-40B4-BE49-F238E27FC236}">
                <a16:creationId xmlns:a16="http://schemas.microsoft.com/office/drawing/2014/main" id="{910DE685-116B-4BDA-976B-F1CA1ABD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95750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E89D438-F45C-4B94-BC8D-0DACB4F6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719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已取消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88C54F8-F8D9-41B2-A70A-D752A19E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81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仅待处理 / 已分配可进入</a:t>
            </a:r>
          </a:p>
        </p:txBody>
      </p:sp>
      <p:sp>
        <p:nvSpPr>
          <p:cNvPr id="21" name="rules">
            <a:extLst xmlns:a="http://schemas.openxmlformats.org/drawingml/2006/main">
              <a:ext uri="{FF2B5EF4-FFF2-40B4-BE49-F238E27FC236}">
                <a16:creationId xmlns:a16="http://schemas.microsoft.com/office/drawing/2014/main" id="{5D189A8A-6D21-40BB-BA7C-80C83F7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143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C37A91B-13B1-408B-9AA4-A6FA464F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状态副作用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18A6F12-7CA7-4587-8735-543DE6FA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252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7F61503-6B1E-4ADE-918E-32772C9B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已分配：通知患者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FE2ED88-E9C0-4AE5-A252-CEB4B0AC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252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B135093-D732-4561-84E7-6EED3548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服务中：进度更新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915A39D-FBC3-4984-9479-DBBBE70E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252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CF2ACFE-0870-498A-A27A-3CA934D9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575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已完成：允许写报告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B153C88-48A7-4F9D-BAF0-5F0D95AB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252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1A6835C-6A85-4186-8C1C-15C9ABBF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发布报告：不改变状态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0DA484B8-8FA5-4173-9791-87D772E1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252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B7C5183-1628-4A3C-8D4F-12D8891B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719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非法跳级：返回错误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BD00E4F-7817-4983-8003-F4F700B3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</a:defRPr>
            </a:pPr>
            <a:r>
              <a:rPr sz="1575" b="1">
                <a:solidFill>
                  <a:srgbClr val="F59E0B"/>
                </a:solidFill>
              </a:rPr>
              <a:t>Allowed map 是唯一状态真相源：transitionNeed() 必须保持原子化。</a:t>
            </a:r>
          </a:p>
        </p:txBody>
      </p:sp>
      <p:sp>
        <p:nvSpPr>
          <p:cNvPr id="34" name="source">
            <a:extLst xmlns:a="http://schemas.openxmlformats.org/drawingml/2006/main">
              <a:ext uri="{FF2B5EF4-FFF2-40B4-BE49-F238E27FC236}">
                <a16:creationId xmlns:a16="http://schemas.microsoft.com/office/drawing/2014/main" id="{3E272276-6D55-4668-9467-AF836411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代码依据：js/store.js: transitionNeed</a:t>
            </a:r>
          </a:p>
        </p:txBody>
      </p:sp>
      <p:sp>
        <p:nvSpPr>
          <p:cNvPr id="35" name="footer">
            <a:extLst xmlns:a="http://schemas.openxmlformats.org/drawingml/2006/main">
              <a:ext uri="{FF2B5EF4-FFF2-40B4-BE49-F238E27FC236}">
                <a16:creationId xmlns:a16="http://schemas.microsoft.com/office/drawing/2014/main" id="{AA2C3348-475C-43C5-A1E6-960156D2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17368133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age-no">
            <a:extLst xmlns:a="http://schemas.openxmlformats.org/drawingml/2006/main">
              <a:ext uri="{FF2B5EF4-FFF2-40B4-BE49-F238E27FC236}">
                <a16:creationId xmlns:a16="http://schemas.microsoft.com/office/drawing/2014/main" id="{23E6D5A0-75EF-44F1-BA47-FDFA2365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901537-CDC1-4582-B69C-ECE72BB0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AI 助手是可解释的七阶段状态机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9F6111-2714-4F54-92B9-6682EF1D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本地规则提取字段，用户逐步确认后才提交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5A6705-8344-4BE2-AB54-8B066712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arrow">
            <a:extLst xmlns:a="http://schemas.openxmlformats.org/drawingml/2006/main">
              <a:ext uri="{FF2B5EF4-FFF2-40B4-BE49-F238E27FC236}">
                <a16:creationId xmlns:a16="http://schemas.microsoft.com/office/drawing/2014/main" id="{912489EC-51FB-4A66-AE04-2D0E1855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765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node">
            <a:extLst xmlns:a="http://schemas.openxmlformats.org/drawingml/2006/main">
              <a:ext uri="{FF2B5EF4-FFF2-40B4-BE49-F238E27FC236}">
                <a16:creationId xmlns:a16="http://schemas.microsoft.com/office/drawing/2014/main" id="{ADE9BBAB-3CEF-4C01-A07F-5E0030CE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295B95-00EF-4C18-A5CE-6FE60ACE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开始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53CABD7-D9E7-4AD6-91F1-B4878E10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idle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BF9CDAA4-8382-44F0-9592-B7314B3C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765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node">
            <a:extLst xmlns:a="http://schemas.openxmlformats.org/drawingml/2006/main">
              <a:ext uri="{FF2B5EF4-FFF2-40B4-BE49-F238E27FC236}">
                <a16:creationId xmlns:a16="http://schemas.microsoft.com/office/drawing/2014/main" id="{32F5D4D2-9D73-48F4-908E-97698F13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47900"/>
            <a:ext cx="133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D74C759-99C7-47EA-89BE-29A23DE0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241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收集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D9A627-4E92-4C32-B128-F0D416D4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14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collecting</a:t>
            </a:r>
          </a:p>
        </p:txBody>
      </p:sp>
      <p:sp>
        <p:nvSpPr>
          <p:cNvPr id="13" name="arrow">
            <a:extLst xmlns:a="http://schemas.openxmlformats.org/drawingml/2006/main">
              <a:ext uri="{FF2B5EF4-FFF2-40B4-BE49-F238E27FC236}">
                <a16:creationId xmlns:a16="http://schemas.microsoft.com/office/drawing/2014/main" id="{7C1A18C5-56A5-4F17-B73B-4316D460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765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44CBA376-1179-491A-9307-2D01B8C6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47900"/>
            <a:ext cx="133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0B768A1-0051-4572-9C94-C2F471FC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241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确认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A63776C-5FC6-4FED-BDBB-1D7180EB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14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confirm_details</a:t>
            </a:r>
          </a:p>
        </p:txBody>
      </p:sp>
      <p:sp>
        <p:nvSpPr>
          <p:cNvPr id="17" name="arrow">
            <a:extLst xmlns:a="http://schemas.openxmlformats.org/drawingml/2006/main">
              <a:ext uri="{FF2B5EF4-FFF2-40B4-BE49-F238E27FC236}">
                <a16:creationId xmlns:a16="http://schemas.microsoft.com/office/drawing/2014/main" id="{568098EB-3720-445D-BD26-72D4CD80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node">
            <a:extLst xmlns:a="http://schemas.openxmlformats.org/drawingml/2006/main">
              <a:ext uri="{FF2B5EF4-FFF2-40B4-BE49-F238E27FC236}">
                <a16:creationId xmlns:a16="http://schemas.microsoft.com/office/drawing/2014/main" id="{70746CE1-6CC6-4AE4-803E-5373C6BC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133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BB61079-540A-4FE5-AE86-47AC0D30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身份证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95793D5-0A59-405A-97FA-984A4E0C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14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upload_identity</a:t>
            </a:r>
          </a:p>
        </p:txBody>
      </p:sp>
      <p:sp>
        <p:nvSpPr>
          <p:cNvPr id="21" name="arrow">
            <a:extLst xmlns:a="http://schemas.openxmlformats.org/drawingml/2006/main">
              <a:ext uri="{FF2B5EF4-FFF2-40B4-BE49-F238E27FC236}">
                <a16:creationId xmlns:a16="http://schemas.microsoft.com/office/drawing/2014/main" id="{DBF8194A-92E8-4005-B3E2-8AD37266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node">
            <a:extLst xmlns:a="http://schemas.openxmlformats.org/drawingml/2006/main">
              <a:ext uri="{FF2B5EF4-FFF2-40B4-BE49-F238E27FC236}">
                <a16:creationId xmlns:a16="http://schemas.microsoft.com/office/drawing/2014/main" id="{16C36630-F850-4DB1-AC12-FB5A64D1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47900"/>
            <a:ext cx="133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9011323-B52E-415E-8172-F1603D3A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241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报告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E3B5A27-F612-4549-8986-E54B9BE5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14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upload_reports</a:t>
            </a:r>
          </a:p>
        </p:txBody>
      </p:sp>
      <p:sp>
        <p:nvSpPr>
          <p:cNvPr id="25" name="arrow">
            <a:extLst xmlns:a="http://schemas.openxmlformats.org/drawingml/2006/main">
              <a:ext uri="{FF2B5EF4-FFF2-40B4-BE49-F238E27FC236}">
                <a16:creationId xmlns:a16="http://schemas.microsoft.com/office/drawing/2014/main" id="{2E0F9B17-5320-442A-8C19-B18C9772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765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6" name="node">
            <a:extLst xmlns:a="http://schemas.openxmlformats.org/drawingml/2006/main">
              <a:ext uri="{FF2B5EF4-FFF2-40B4-BE49-F238E27FC236}">
                <a16:creationId xmlns:a16="http://schemas.microsoft.com/office/drawing/2014/main" id="{A21952EA-EBCF-4F50-8AAA-BA38E215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47900"/>
            <a:ext cx="133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584B402-860B-4E58-AE1E-16C21784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最终确认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CB2363B-59DD-4778-B9EA-AB3E21D6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14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final_confirm</a:t>
            </a:r>
          </a:p>
        </p:txBody>
      </p:sp>
      <p:sp>
        <p:nvSpPr>
          <p:cNvPr id="29" name="node">
            <a:extLst xmlns:a="http://schemas.openxmlformats.org/drawingml/2006/main">
              <a:ext uri="{FF2B5EF4-FFF2-40B4-BE49-F238E27FC236}">
                <a16:creationId xmlns:a16="http://schemas.microsoft.com/office/drawing/2014/main" id="{B1FC7EAE-A792-4291-A9D3-0A2A274C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247900"/>
            <a:ext cx="133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86DC0F70-6AA4-4834-8285-C46FBDF4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3241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已提交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492920D-3120-41A0-AAD9-2FD6DB97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714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submitted</a:t>
            </a:r>
          </a:p>
        </p:txBody>
      </p:sp>
      <p:sp>
        <p:nvSpPr>
          <p:cNvPr id="32" name="ai-rules">
            <a:extLst xmlns:a="http://schemas.openxmlformats.org/drawingml/2006/main">
              <a:ext uri="{FF2B5EF4-FFF2-40B4-BE49-F238E27FC236}">
                <a16:creationId xmlns:a16="http://schemas.microsoft.com/office/drawing/2014/main" id="{68E8A44D-19DA-402E-B000-D480AEAD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0363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ECA527A-E5BF-43B1-8BB2-F72C65D2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规则解析内容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55130C9-B83B-44BB-990D-DA2A3319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医院别名 · 科室别名 · 相对日期 · 服务类型 · 轮椅/耳背/搀扶备注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510D7E0D-C30B-4CDD-A0A7-9933EFAA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安全约束：AI 不能绕过信息确认、资料确认与最终提交。当前 workflow 主路径不依赖外部 API。</a:t>
            </a:r>
          </a:p>
        </p:txBody>
      </p:sp>
      <p:sp>
        <p:nvSpPr>
          <p:cNvPr id="36" name="source">
            <a:extLst xmlns:a="http://schemas.openxmlformats.org/drawingml/2006/main">
              <a:ext uri="{FF2B5EF4-FFF2-40B4-BE49-F238E27FC236}">
                <a16:creationId xmlns:a16="http://schemas.microsoft.com/office/drawing/2014/main" id="{D45E6302-82F4-435B-BEAC-D9921982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代码依据：js/store.js: AiAssistantService · js/workflow.js</a:t>
            </a:r>
          </a:p>
        </p:txBody>
      </p:sp>
      <p:sp>
        <p:nvSpPr>
          <p:cNvPr id="37" name="footer">
            <a:extLst xmlns:a="http://schemas.openxmlformats.org/drawingml/2006/main">
              <a:ext uri="{FF2B5EF4-FFF2-40B4-BE49-F238E27FC236}">
                <a16:creationId xmlns:a16="http://schemas.microsoft.com/office/drawing/2014/main" id="{4C0B47F5-5E31-486F-9205-462BEFED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21320342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age-no">
            <a:extLst xmlns:a="http://schemas.openxmlformats.org/drawingml/2006/main">
              <a:ext uri="{FF2B5EF4-FFF2-40B4-BE49-F238E27FC236}">
                <a16:creationId xmlns:a16="http://schemas.microsoft.com/office/drawing/2014/main" id="{ADA5A3A9-6AEB-463F-A7E0-95D8371D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BD7ADC-94C9-4478-80E6-D24C8CEC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医院申请与通知形成两个独立闭环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ED19CF-87C0-4A78-B19D-F45D1584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审批历史保留，通知按角色和事件去重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3D4F049-87AF-4AD9-B484-511973C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BC6E92-2342-4F73-B861-2AF55F12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医院申请闭环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3ABE606C-4AC0-4C57-B969-648E8879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28850"/>
            <a:ext cx="438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arrow">
            <a:extLst xmlns:a="http://schemas.openxmlformats.org/drawingml/2006/main">
              <a:ext uri="{FF2B5EF4-FFF2-40B4-BE49-F238E27FC236}">
                <a16:creationId xmlns:a16="http://schemas.microsoft.com/office/drawing/2014/main" id="{1190C023-7374-496F-8624-73DB0A29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438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A0219F27-4071-4191-9A2A-B5E9BC08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28850"/>
            <a:ext cx="438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" name="node">
            <a:extLst xmlns:a="http://schemas.openxmlformats.org/drawingml/2006/main">
              <a:ext uri="{FF2B5EF4-FFF2-40B4-BE49-F238E27FC236}">
                <a16:creationId xmlns:a16="http://schemas.microsoft.com/office/drawing/2014/main" id="{26A79BB7-0895-43BC-B5DE-BCB167B9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B886152-80C5-4314-A250-00A8F11C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未收录医院</a:t>
            </a:r>
          </a:p>
        </p:txBody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A7BA01D4-8961-4422-8D99-8546C299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0025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5F6454F-C8EB-4975-B6E2-5669262C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764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保存草稿</a:t>
            </a:r>
          </a:p>
        </p:txBody>
      </p:sp>
      <p:sp>
        <p:nvSpPr>
          <p:cNvPr id="13" name="node">
            <a:extLst xmlns:a="http://schemas.openxmlformats.org/drawingml/2006/main">
              <a:ext uri="{FF2B5EF4-FFF2-40B4-BE49-F238E27FC236}">
                <a16:creationId xmlns:a16="http://schemas.microsoft.com/office/drawing/2014/main" id="{761DD552-233F-44DE-AD70-56BC0E39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0025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D4E2E5B-9A31-4DDC-B518-58BEE8DB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后台审批</a:t>
            </a:r>
          </a:p>
        </p:txBody>
      </p:sp>
      <p:sp>
        <p:nvSpPr>
          <p:cNvPr id="15" name="node">
            <a:extLst xmlns:a="http://schemas.openxmlformats.org/drawingml/2006/main">
              <a:ext uri="{FF2B5EF4-FFF2-40B4-BE49-F238E27FC236}">
                <a16:creationId xmlns:a16="http://schemas.microsoft.com/office/drawing/2014/main" id="{50F5E852-E92D-4EFE-9B5D-A2217DC9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025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14B896C-3B37-4426-9741-42275A08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764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通过并回填</a:t>
            </a:r>
          </a:p>
        </p:txBody>
      </p:sp>
      <p:sp>
        <p:nvSpPr>
          <p:cNvPr id="17" name="node">
            <a:extLst xmlns:a="http://schemas.openxmlformats.org/drawingml/2006/main">
              <a:ext uri="{FF2B5EF4-FFF2-40B4-BE49-F238E27FC236}">
                <a16:creationId xmlns:a16="http://schemas.microsoft.com/office/drawing/2014/main" id="{8DA6F667-DBA2-46B2-B71A-3F4E3C09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1485426-0B6C-4602-A2AA-A12196DB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764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驳回 + 原因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02FF627-FB31-4C28-BB05-CD841031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241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修改后新建申请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BC51DFA-82AB-4393-AF6C-E48740B6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通知闭环</a:t>
            </a:r>
          </a:p>
        </p:txBody>
      </p:sp>
      <p:sp>
        <p:nvSpPr>
          <p:cNvPr id="21" name="node">
            <a:extLst xmlns:a="http://schemas.openxmlformats.org/drawingml/2006/main">
              <a:ext uri="{FF2B5EF4-FFF2-40B4-BE49-F238E27FC236}">
                <a16:creationId xmlns:a16="http://schemas.microsoft.com/office/drawing/2014/main" id="{01A32C30-AF75-4975-A19A-17BDD50E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EC36489-7515-44EB-B4B1-A5CB9B1A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业务事件</a:t>
            </a:r>
          </a:p>
        </p:txBody>
      </p:sp>
      <p:sp>
        <p:nvSpPr>
          <p:cNvPr id="23" name="arrow">
            <a:extLst xmlns:a="http://schemas.openxmlformats.org/drawingml/2006/main">
              <a:ext uri="{FF2B5EF4-FFF2-40B4-BE49-F238E27FC236}">
                <a16:creationId xmlns:a16="http://schemas.microsoft.com/office/drawing/2014/main" id="{71CC2C8E-B9D5-4E2A-A157-29069E0D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19600"/>
            <a:ext cx="476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node">
            <a:extLst xmlns:a="http://schemas.openxmlformats.org/drawingml/2006/main">
              <a:ext uri="{FF2B5EF4-FFF2-40B4-BE49-F238E27FC236}">
                <a16:creationId xmlns:a16="http://schemas.microsoft.com/office/drawing/2014/main" id="{19F5CD96-8559-4E01-A513-E4CB1355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290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E1B405C-18A6-4918-88B3-E40ACE80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291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生成通知</a:t>
            </a:r>
          </a:p>
        </p:txBody>
      </p:sp>
      <p:sp>
        <p:nvSpPr>
          <p:cNvPr id="26" name="arrow">
            <a:extLst xmlns:a="http://schemas.openxmlformats.org/drawingml/2006/main">
              <a:ext uri="{FF2B5EF4-FFF2-40B4-BE49-F238E27FC236}">
                <a16:creationId xmlns:a16="http://schemas.microsoft.com/office/drawing/2014/main" id="{61FDEE87-2FED-4547-BDAB-64A58406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19600"/>
            <a:ext cx="476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node">
            <a:extLst xmlns:a="http://schemas.openxmlformats.org/drawingml/2006/main">
              <a:ext uri="{FF2B5EF4-FFF2-40B4-BE49-F238E27FC236}">
                <a16:creationId xmlns:a16="http://schemas.microsoft.com/office/drawing/2014/main" id="{A777BD9E-91EF-4204-94C5-B20829D2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C2B1081-017C-4591-8B8B-EEFD277A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291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角色过滤</a:t>
            </a:r>
          </a:p>
        </p:txBody>
      </p:sp>
      <p:sp>
        <p:nvSpPr>
          <p:cNvPr id="29" name="arrow">
            <a:extLst xmlns:a="http://schemas.openxmlformats.org/drawingml/2006/main">
              <a:ext uri="{FF2B5EF4-FFF2-40B4-BE49-F238E27FC236}">
                <a16:creationId xmlns:a16="http://schemas.microsoft.com/office/drawing/2014/main" id="{3195A587-06BD-454F-9FA9-72126496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19600"/>
            <a:ext cx="476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0" name="node">
            <a:extLst xmlns:a="http://schemas.openxmlformats.org/drawingml/2006/main">
              <a:ext uri="{FF2B5EF4-FFF2-40B4-BE49-F238E27FC236}">
                <a16:creationId xmlns:a16="http://schemas.microsoft.com/office/drawing/2014/main" id="{A2FD25C5-F745-417E-8234-7CEE0DDC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5290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49BC1D1-F0B7-47DF-B0B4-E620B00E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点击跳转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AD08B37-E672-4B73-9751-FB630676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34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去重键：recipientRole : type : targetId : eventKey</a:t>
            </a:r>
          </a:p>
        </p:txBody>
      </p:sp>
      <p:sp>
        <p:nvSpPr>
          <p:cNvPr id="33" name="source">
            <a:extLst xmlns:a="http://schemas.openxmlformats.org/drawingml/2006/main">
              <a:ext uri="{FF2B5EF4-FFF2-40B4-BE49-F238E27FC236}">
                <a16:creationId xmlns:a16="http://schemas.microsoft.com/office/drawing/2014/main" id="{8C1C3F7A-8B3B-43A8-9C1D-7D435F33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代码依据：js/store.js: addHospitalApplication / addNotification</a:t>
            </a:r>
          </a:p>
        </p:txBody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3CF69432-ECA3-4D45-886B-37620BD5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13883582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age-no">
            <a:extLst xmlns:a="http://schemas.openxmlformats.org/drawingml/2006/main">
              <a:ext uri="{FF2B5EF4-FFF2-40B4-BE49-F238E27FC236}">
                <a16:creationId xmlns:a16="http://schemas.microsoft.com/office/drawing/2014/main" id="{178438B5-D083-440A-B92F-5D69F5DD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1E93E1-BF7B-4297-9D95-FCD4B62E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持久化解决演示连续性，但不具备数据库事务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6411CE-562A-4232-9AC5-B08D3AA8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图片压缩后仍以 Data URL 占用浏览器配额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1E98C24-FEA4-4F6D-87B0-F43D5DA9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D1073D-8CC8-47B9-B9EF-2164B872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9BD464-1972-47FE-95CB-191BF840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668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加载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72BFC50-DB37-448F-BCBF-676F853C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668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读取 huwuyou_store_v1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B2C3E9A-FEE0-43C1-803A-B3CFA267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668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版本匹配则合并默认字段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55B70147-DE79-4A09-B5C3-A3CBCF5E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579DD20-05C6-4FC0-A0C4-14601101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B56F8D0-A5D1-4008-A675-7E005ED1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损坏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59B30E-28C7-452A-9569-91AE3EDE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050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备份原字符串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013D93B-D728-46E4-8506-145FD17A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写入 corrupt_backup 并恢复默认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33BD4540-1D8C-403C-9C78-39835610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2463A14-2EFA-4660-AA48-790617D7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42F3D47-A76D-4566-9372-21465672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写入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543F96B-E4A2-44C9-8154-2161F2F7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JSON.stringify + setItem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0B3E086-8D15-4688-BF04-BF72652F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2626"/>
                </a:solidFill>
              </a:defRPr>
            </a:pPr>
            <a:r>
              <a:rPr sz="1275" b="0">
                <a:solidFill>
                  <a:srgbClr val="DC2626"/>
                </a:solidFill>
              </a:rPr>
              <a:t>失败提示配额不足；当前不回滚内存</a:t>
            </a:r>
          </a:p>
        </p:txBody>
      </p:sp>
      <p:sp>
        <p:nvSpPr>
          <p:cNvPr id="19" name="line">
            <a:extLst xmlns:a="http://schemas.openxmlformats.org/drawingml/2006/main">
              <a:ext uri="{FF2B5EF4-FFF2-40B4-BE49-F238E27FC236}">
                <a16:creationId xmlns:a16="http://schemas.microsoft.com/office/drawing/2014/main" id="{EFF8BF76-AFC8-4389-A220-FF308DF6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3846398-7071-40C8-9893-A2777242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9F807B0-3A2C-4AE9-9E15-2D4E1C16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图片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24B70B3-C173-43EC-B410-B63F2094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81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FileReader → Canvas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6C0F496-AEB5-433A-8BFF-F4F9EEEF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814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最长边压缩，JPEG 质量逐级降低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06A43417-FDC3-4CA0-8B80-CD3D03E5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78A91C2-F151-44EC-ACE8-C670D652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BC44F71-5EC9-4A1B-AF51-651734B4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9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重置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96E72B6-337E-4AAD-BDC0-AB8C0D52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删除版本化键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70DF024-57A4-47F8-91B1-D784FB81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96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刷新后重新装载默认数据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0347081D-C4B8-4546-8981-B956E41A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7EFE78E-BBF5-411E-B6CB-C47BB980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</a:defRPr>
            </a:pPr>
            <a:r>
              <a:rPr sz="1575" b="1">
                <a:solidFill>
                  <a:srgbClr val="F59E0B"/>
                </a:solidFill>
              </a:rPr>
              <a:t>生产化必须迁移：对象存储 + 数据库 + 后端校验 + 审计与回滚机制</a:t>
            </a:r>
          </a:p>
        </p:txBody>
      </p:sp>
      <p:sp>
        <p:nvSpPr>
          <p:cNvPr id="31" name="source">
            <a:extLst xmlns:a="http://schemas.openxmlformats.org/drawingml/2006/main">
              <a:ext uri="{FF2B5EF4-FFF2-40B4-BE49-F238E27FC236}">
                <a16:creationId xmlns:a16="http://schemas.microsoft.com/office/drawing/2014/main" id="{E6C4786E-EA68-4046-A1A8-E8BC42D2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代码依据：js/store.js: CareStore / MediaService</a:t>
            </a:r>
          </a:p>
        </p:txBody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23137DEA-C75E-4F42-A50E-32BAEA57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17218699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age-no">
            <a:extLst xmlns:a="http://schemas.openxmlformats.org/drawingml/2006/main">
              <a:ext uri="{FF2B5EF4-FFF2-40B4-BE49-F238E27FC236}">
                <a16:creationId xmlns:a16="http://schemas.microsoft.com/office/drawing/2014/main" id="{AFAD8A73-034D-4084-95D1-D6526B9E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B6595A-C5EA-4358-BB43-802E9B5D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部署只是静态文件发布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B6C926-E249-4E37-88A3-C2238312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Nginx 将 /huwuyou-demo/ 映射到前端目录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4D81BB2-46D6-4EF7-98E6-5219431B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node">
            <a:extLst xmlns:a="http://schemas.openxmlformats.org/drawingml/2006/main">
              <a:ext uri="{FF2B5EF4-FFF2-40B4-BE49-F238E27FC236}">
                <a16:creationId xmlns:a16="http://schemas.microsoft.com/office/drawing/2014/main" id="{336685FD-6394-4F6A-9AC7-10D38176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000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3A37D68-4C04-4321-A943-C7617FE4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开发目录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FEF7BE9-0FD1-4FE3-9843-A2286974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HTML / CSS / JS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6DCC79E6-C042-4CFD-AE63-DC688690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38400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node">
            <a:extLst xmlns:a="http://schemas.openxmlformats.org/drawingml/2006/main">
              <a:ext uri="{FF2B5EF4-FFF2-40B4-BE49-F238E27FC236}">
                <a16:creationId xmlns:a16="http://schemas.microsoft.com/office/drawing/2014/main" id="{0ECC4546-0173-4D84-B478-F34F1B91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28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E7C17EE-7693-4879-AB62-BE178F92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Nginx alias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763E1CC-8D42-470A-B6F2-3421D040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908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/var/www/huwuyou-demo/</a:t>
            </a:r>
          </a:p>
        </p:txBody>
      </p:sp>
      <p:sp>
        <p:nvSpPr>
          <p:cNvPr id="12" name="arrow">
            <a:extLst xmlns:a="http://schemas.openxmlformats.org/drawingml/2006/main">
              <a:ext uri="{FF2B5EF4-FFF2-40B4-BE49-F238E27FC236}">
                <a16:creationId xmlns:a16="http://schemas.microsoft.com/office/drawing/2014/main" id="{1562AF6A-69AB-4972-B613-9AE0F5E4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node">
            <a:extLst xmlns:a="http://schemas.openxmlformats.org/drawingml/2006/main">
              <a:ext uri="{FF2B5EF4-FFF2-40B4-BE49-F238E27FC236}">
                <a16:creationId xmlns:a16="http://schemas.microsoft.com/office/drawing/2014/main" id="{11244D4F-84C4-4130-A8EC-6E35AABD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2476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60BD03C-468F-497D-A05D-EA09ACF2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717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浏览器访问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983472D-D1FF-4ADA-B5DE-2D003C9F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908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/huwuyou-demo/</a:t>
            </a:r>
          </a:p>
        </p:txBody>
      </p:sp>
      <p:sp>
        <p:nvSpPr>
          <p:cNvPr id="16" name="nginx-code">
            <a:extLst xmlns:a="http://schemas.openxmlformats.org/drawingml/2006/main">
              <a:ext uri="{FF2B5EF4-FFF2-40B4-BE49-F238E27FC236}">
                <a16:creationId xmlns:a16="http://schemas.microsoft.com/office/drawing/2014/main" id="{96D5FB88-9332-4824-AB99-D7224DB7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93726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49027E9-6A5F-49ED-B18E-10305AFA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60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location ^~ /huwuyou-demo/ {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  alias /var/www/huwuyou-demo/;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  index index.html;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1E295A2-6EF5-4E1A-8B1B-4FD788B3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发布前检查：文件权限 · 路径尾斜杠 · 缓存刷新 · 禁止上传真实资料提示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D632708D-8E40-45BD-8A05-6D999FB1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代码依据：deploy/nginx-huwuyou-demo.conf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BE1322D6-5827-4710-AE36-EF72899D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8066414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age-no">
            <a:extLst xmlns:a="http://schemas.openxmlformats.org/drawingml/2006/main">
              <a:ext uri="{FF2B5EF4-FFF2-40B4-BE49-F238E27FC236}">
                <a16:creationId xmlns:a16="http://schemas.microsoft.com/office/drawing/2014/main" id="{B30BA3E3-FA85-49FF-84F1-80B97D89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02CC4B-8216-4F37-BE78-600F8D84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生产化改造应先补安全与数据底座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2724E9D-7242-471C-8090-0D41F21E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不要先把原型直接迁移成框架项目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C5AD239-5ECA-4BC0-9DE1-A8E937A0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pill">
            <a:extLst xmlns:a="http://schemas.openxmlformats.org/drawingml/2006/main">
              <a:ext uri="{FF2B5EF4-FFF2-40B4-BE49-F238E27FC236}">
                <a16:creationId xmlns:a16="http://schemas.microsoft.com/office/drawing/2014/main" id="{EB07E1C9-399D-4A75-8982-C8EC9DBC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552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ABA0412-5D4F-4E9F-AECD-82EF7356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P0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79B0A88-80CC-49F7-8C3D-B8ED2AB8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66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隐私与鉴权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312F803-1B98-4406-894F-ED4BA687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6685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后端登录、权限、脱敏、审计、加密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BCDD862D-C2D9-409C-A2D1-B3289337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pill">
            <a:extLst xmlns:a="http://schemas.openxmlformats.org/drawingml/2006/main">
              <a:ext uri="{FF2B5EF4-FFF2-40B4-BE49-F238E27FC236}">
                <a16:creationId xmlns:a16="http://schemas.microsoft.com/office/drawing/2014/main" id="{76FD492B-FCF9-4C72-ACFC-8196CC00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52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E3C55EB-F11A-4F11-B741-676CADDD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P0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8CE8CF5-A32D-45DB-B1E2-43254AF3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90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数据与文件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2267334-0F0B-4D3A-93C3-2465772B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PostgreSQL + 对象存储 + 备份恢复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B8E18CB-9D69-4573-94B0-C5616998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pill">
            <a:extLst xmlns:a="http://schemas.openxmlformats.org/drawingml/2006/main">
              <a:ext uri="{FF2B5EF4-FFF2-40B4-BE49-F238E27FC236}">
                <a16:creationId xmlns:a16="http://schemas.microsoft.com/office/drawing/2014/main" id="{1806A07D-CEF5-4ED5-90E3-7461B23D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552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AFAECF0-73F8-424D-9653-5A074B40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P1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E17B9C2-35F1-4FCA-B38E-B2FB6D97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14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业务 API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C0F2C0F-A52E-40F0-BDFB-C4AB1CD8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需求、审批、通知、报告拆成领域接口</a:t>
            </a:r>
          </a:p>
        </p:txBody>
      </p:sp>
      <p:sp>
        <p:nvSpPr>
          <p:cNvPr id="19" name="line">
            <a:extLst xmlns:a="http://schemas.openxmlformats.org/drawingml/2006/main">
              <a:ext uri="{FF2B5EF4-FFF2-40B4-BE49-F238E27FC236}">
                <a16:creationId xmlns:a16="http://schemas.microsoft.com/office/drawing/2014/main" id="{AD519410-14AD-4C14-810C-6F03A4EE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pill">
            <a:extLst xmlns:a="http://schemas.openxmlformats.org/drawingml/2006/main">
              <a:ext uri="{FF2B5EF4-FFF2-40B4-BE49-F238E27FC236}">
                <a16:creationId xmlns:a16="http://schemas.microsoft.com/office/drawing/2014/main" id="{9CEDA2A5-33D0-4BBD-AEDA-4968B03E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552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BBFBD2B-7155-4612-806C-5142E6F9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P1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8916B5D-4D79-41FC-827B-96E34413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AI/OCR 网关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BFD4234-4669-4F97-A6B7-7D4A6259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后端代理、结构化输出、人工确认、模型审计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D9B351D6-CB52-43DE-8A52-9CA94838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pill">
            <a:extLst xmlns:a="http://schemas.openxmlformats.org/drawingml/2006/main">
              <a:ext uri="{FF2B5EF4-FFF2-40B4-BE49-F238E27FC236}">
                <a16:creationId xmlns:a16="http://schemas.microsoft.com/office/drawing/2014/main" id="{C426B7FF-1B0D-41A3-BA3F-DE5B4EE1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552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C7F4916-C6CE-497B-B038-46951954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P2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7809C5F-C2EF-4D6A-A0A5-A6F51F31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62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工程化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60A752E-D442-4BCE-9ED0-69A80D55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6245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TypeScript、模块化、单元/端到端测试、CI/CD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13F4E7BD-49AA-4700-A1BE-ECE71ACF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pill">
            <a:extLst xmlns:a="http://schemas.openxmlformats.org/drawingml/2006/main">
              <a:ext uri="{FF2B5EF4-FFF2-40B4-BE49-F238E27FC236}">
                <a16:creationId xmlns:a16="http://schemas.microsoft.com/office/drawing/2014/main" id="{7E249E16-17AB-4365-ADF8-7AACAC03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552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F9D2A1A-9510-4F77-A81C-84758885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6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P2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AE440EF-7CF8-4C09-A38C-919FF35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86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可观测性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C2B94BB-ECD4-4794-B5FE-8DC295EB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8635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日志、指标、告警、错误追踪与容量规划</a:t>
            </a:r>
          </a:p>
        </p:txBody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63E4A764-0EE5-4D1A-8435-6A31C8C5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10CFA29-3733-400F-8844-D39AE454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原则：先定义接口和数据契约，再替换前端实现；状态机与安全确认逻辑继续作为业务核心。</a:t>
            </a:r>
          </a:p>
        </p:txBody>
      </p:sp>
      <p:sp>
        <p:nvSpPr>
          <p:cNvPr id="36" name="source">
            <a:extLst xmlns:a="http://schemas.openxmlformats.org/drawingml/2006/main">
              <a:ext uri="{FF2B5EF4-FFF2-40B4-BE49-F238E27FC236}">
                <a16:creationId xmlns:a16="http://schemas.microsoft.com/office/drawing/2014/main" id="{9751E56D-1E14-4C90-9D1F-F0EAF21A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依据：当前代码边界与需求设计文档</a:t>
            </a:r>
          </a:p>
        </p:txBody>
      </p:sp>
      <p:sp>
        <p:nvSpPr>
          <p:cNvPr id="37" name="footer">
            <a:extLst xmlns:a="http://schemas.openxmlformats.org/drawingml/2006/main">
              <a:ext uri="{FF2B5EF4-FFF2-40B4-BE49-F238E27FC236}">
                <a16:creationId xmlns:a16="http://schemas.microsoft.com/office/drawing/2014/main" id="{BC5BE577-90DF-477B-8765-E68F4ADD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14879748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age-no">
            <a:extLst xmlns:a="http://schemas.openxmlformats.org/drawingml/2006/main">
              <a:ext uri="{FF2B5EF4-FFF2-40B4-BE49-F238E27FC236}">
                <a16:creationId xmlns:a16="http://schemas.microsoft.com/office/drawing/2014/main" id="{ABC8D770-FB67-44E2-B134-3EA48E9C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DE1537-DAC9-4E51-B594-92A7D6F5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接手顺序：先跑通，再守住状态规则，最后重构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0AD3731-96BF-4B1A-B1A5-5F2FE63B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0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一周内完成可控接管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7A5BCB4-DEA8-4912-9961-C4098CA0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31DB3C-5B33-4983-ACA9-18B852CD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Day 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EEEE872-131F-4BC1-BFEF-1DA16B3C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启动与全链路演示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807619C-B74D-46AF-8B90-9D94753F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患者提交 → 管理员处理 → 患者查看报告</a:t>
            </a:r>
          </a:p>
        </p:txBody>
      </p:sp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79307C6E-FA09-4D61-9D4E-131649E2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0610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DDE5097-6B35-4861-A9DC-B581D130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Day 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AF57B11-6DFE-41C4-B3AC-D15FB986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669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阅读核心代码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049CBF0-EAF0-49DB-BDDE-4421F269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store.js → workflow.js → app.js → 两端页面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86E04C37-7D0C-418C-B912-22A6B41B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10610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D208358-DC8B-4502-9E2C-C0EACCEB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Day 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5946732-4D6E-47E3-A05B-B2E7F6FE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建立回归清单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D771480-4B5D-49A2-8A4A-6803D828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状态转换、医院审批、通知、价格、报告、刷新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1D148469-8FEA-4554-87FC-1F97BD60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10610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39C45A3-808B-45E6-BB95-9F868A69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Day 4–5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892C244-C587-4691-AF26-2F5F9DF4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43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修复与补测试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5ECED2D-0BC0-433F-AE4B-92D2D984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433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先覆盖 P0 规则，不做无关样式重构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C0CB58C7-1176-4EB0-B040-4E02C006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10610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A6F40AA-5C6B-43FB-8738-9C32E46B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Week 2+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3A70D6D-270D-4C1E-9C02-032EFCD6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81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制定生产化 ADR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ECF749C-9CCB-49FD-B7C1-7CB831F9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815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数据模型、API、鉴权、文件与 AI 网关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A95C360E-FC51-4DF6-820E-E25C23C5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10610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closing">
            <a:extLst xmlns:a="http://schemas.openxmlformats.org/drawingml/2006/main">
              <a:ext uri="{FF2B5EF4-FFF2-40B4-BE49-F238E27FC236}">
                <a16:creationId xmlns:a16="http://schemas.microsoft.com/office/drawing/2014/main" id="{E2881D43-8AD0-499C-88B6-95BE6916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10610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D0DF24F-6296-4CF3-83F5-A35DA17A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交接完成标准：能复现闭环、能解释边界、能修改状态规则而不破坏既有流程。</a:t>
            </a:r>
          </a:p>
        </p:txBody>
      </p:sp>
      <p:sp>
        <p:nvSpPr>
          <p:cNvPr id="27" name="source">
            <a:extLst xmlns:a="http://schemas.openxmlformats.org/drawingml/2006/main">
              <a:ext uri="{FF2B5EF4-FFF2-40B4-BE49-F238E27FC236}">
                <a16:creationId xmlns:a16="http://schemas.microsoft.com/office/drawing/2014/main" id="{4A52F63C-25BC-40B5-A776-F29D384F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事实来源：index.html · js/*.js · css/*.css · deploy/nginx-huwuyou-demo.conf · 当前需求与设计文档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F5FE2A20-4606-4AC9-9795-CEB3C1EC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护无忧 · 技术交接</a:t>
            </a:r>
          </a:p>
        </p:txBody>
      </p:sp>
    </p:spTree>
    <p:extLst>
      <p:ext uri="{BB962C8B-B14F-4D97-AF65-F5344CB8AC3E}">
        <p14:creationId xmlns:p14="http://schemas.microsoft.com/office/powerpoint/2010/main" val="345497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2026-07-20T10:17:27.5860000Z</dcterms:created>
  <dcterms:modified xsi:type="dcterms:W3CDTF">2026-07-20T10:17:27.5860000Z</dcterms:modified>
</coreProperties>
</file>